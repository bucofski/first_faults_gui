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3B7DE9-F5B2-5244-946E-912611C073BB}" type="datetimeFigureOut">
              <a:rPr lang="nl-BE" smtClean="0"/>
              <a:t>30/05/2026</a:t>
            </a:fld>
            <a:endParaRPr lang="nl-BE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BE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BE09F5-4AE9-7A42-BE7A-80876203947F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0175750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BE09F5-4AE9-7A42-BE7A-80876203947F}" type="slidenum">
              <a:rPr lang="nl-BE" smtClean="0"/>
              <a:t>4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7197008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2560320"/>
            <a:ext cx="12188952" cy="2148840"/>
          </a:xfrm>
          <a:prstGeom prst="rect">
            <a:avLst/>
          </a:prstGeom>
          <a:solidFill>
            <a:srgbClr val="0D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5486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E86B1A"/>
                </a:solidFill>
              </a:rPr>
              <a:t>FIRST FAULTS GUI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D0D8E8"/>
                </a:solidFill>
              </a:rPr>
              <a:t>Historische Alarmanalyse &amp; Rapportageplatform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9748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Benoit Goethals  ·  Tom Van de Vyver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0040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6B7A99"/>
                </a:solidFill>
              </a:rPr>
              <a:t>ArcelorMittal  ·  2025 –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21792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6B7A99"/>
                </a:solidFill>
              </a:rPr>
              <a:t>Projectpresentatie van 10 minuten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601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D0D8E8"/>
                </a:solidFill>
              </a:rPr>
              <a:t>Wat we in 10 minuten bespreken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400"/>
              </a:spcBef>
            </a:pPr>
            <a:r>
              <a:rPr sz="1700" b="1">
                <a:solidFill>
                  <a:srgbClr val="E86B1A"/>
                </a:solidFill>
              </a:rPr>
              <a:t>  01  Projectbeschrijving &amp; probleemstelling</a:t>
            </a:r>
          </a:p>
          <a:p>
            <a:pPr>
              <a:spcBef>
                <a:spcPts val="400"/>
              </a:spcBef>
            </a:pPr>
            <a:r>
              <a:rPr sz="1700" b="1">
                <a:solidFill>
                  <a:srgbClr val="E86B1A"/>
                </a:solidFill>
              </a:rPr>
              <a:t>  02  Doelen &amp; succescriteria</a:t>
            </a:r>
          </a:p>
          <a:p>
            <a:pPr>
              <a:spcBef>
                <a:spcPts val="400"/>
              </a:spcBef>
            </a:pPr>
            <a:r>
              <a:rPr sz="1700" b="1">
                <a:solidFill>
                  <a:srgbClr val="E86B1A"/>
                </a:solidFill>
              </a:rPr>
              <a:t>  03  Team &amp; verantwoordelijkheden</a:t>
            </a:r>
          </a:p>
          <a:p>
            <a:pPr>
              <a:spcBef>
                <a:spcPts val="400"/>
              </a:spcBef>
            </a:pPr>
            <a:r>
              <a:rPr sz="1700" b="1">
                <a:solidFill>
                  <a:srgbClr val="E86B1A"/>
                </a:solidFill>
              </a:rPr>
              <a:t>  04  Werkwijze &amp; methodologie</a:t>
            </a:r>
          </a:p>
          <a:p>
            <a:pPr>
              <a:spcBef>
                <a:spcPts val="400"/>
              </a:spcBef>
            </a:pPr>
            <a:r>
              <a:rPr sz="1700" b="1">
                <a:solidFill>
                  <a:srgbClr val="E86B1A"/>
                </a:solidFill>
              </a:rPr>
              <a:t>  05  Architectuur</a:t>
            </a:r>
          </a:p>
          <a:p>
            <a:pPr>
              <a:spcBef>
                <a:spcPts val="400"/>
              </a:spcBef>
            </a:pPr>
            <a:r>
              <a:rPr sz="1700" b="1">
                <a:solidFill>
                  <a:srgbClr val="E86B1A"/>
                </a:solidFill>
              </a:rPr>
              <a:t>  06  Overzicht sleutelfuncties</a:t>
            </a:r>
          </a:p>
          <a:p>
            <a:pPr>
              <a:spcBef>
                <a:spcPts val="400"/>
              </a:spcBef>
            </a:pPr>
            <a:r>
              <a:rPr sz="1700" b="1">
                <a:solidFill>
                  <a:srgbClr val="E86B1A"/>
                </a:solidFill>
              </a:rPr>
              <a:t>  07  Voortgangstijdlijn</a:t>
            </a:r>
          </a:p>
          <a:p>
            <a:pPr>
              <a:spcBef>
                <a:spcPts val="400"/>
              </a:spcBef>
            </a:pPr>
            <a:r>
              <a:rPr sz="1700" b="1">
                <a:solidFill>
                  <a:srgbClr val="E86B1A"/>
                </a:solidFill>
              </a:rPr>
              <a:t>  08  Wat staat er nog te doen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Projectbeschrijving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601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D0D8E8"/>
                </a:solidFill>
              </a:rPr>
              <a:t>Welk probleem lossen we op?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508760"/>
            <a:ext cx="5394960" cy="4892040"/>
          </a:xfrm>
          <a:prstGeom prst="rect">
            <a:avLst/>
          </a:prstGeom>
          <a:solidFill>
            <a:srgbClr val="0D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89320" y="1508760"/>
            <a:ext cx="5879592" cy="4892040"/>
          </a:xfrm>
          <a:prstGeom prst="rect">
            <a:avLst/>
          </a:prstGeom>
          <a:solidFill>
            <a:srgbClr val="0D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0040" y="1508760"/>
            <a:ext cx="164592" cy="347472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508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86B1A"/>
                </a:solidFill>
              </a:rPr>
              <a:t>Het Probleem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965960"/>
            <a:ext cx="51206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800"/>
              </a:spcBef>
            </a:pPr>
            <a:r>
              <a:rPr sz="1400" b="0" i="0">
                <a:solidFill>
                  <a:srgbClr val="D0D8E8"/>
                </a:solidFill>
              </a:rPr>
              <a:t>›  CIMPLICITY registreert duizenden alarmen per dag op de productielijn van ArcelorMittal</a:t>
            </a:r>
          </a:p>
          <a:p>
            <a:pPr algn="l">
              <a:spcBef>
                <a:spcPts val="800"/>
              </a:spcBef>
            </a:pPr>
            <a:r>
              <a:rPr sz="1400" b="0" i="0">
                <a:solidFill>
                  <a:srgbClr val="D0D8E8"/>
                </a:solidFill>
              </a:rPr>
              <a:t>›  Bestaande tools tonen enkel real-time alarmen — geen historische analyse</a:t>
            </a:r>
          </a:p>
          <a:p>
            <a:pPr algn="l">
              <a:spcBef>
                <a:spcPts val="800"/>
              </a:spcBef>
            </a:pPr>
            <a:r>
              <a:rPr sz="1400" b="0" i="0">
                <a:solidFill>
                  <a:srgbClr val="D0D8E8"/>
                </a:solidFill>
              </a:rPr>
              <a:t>›  Ingenieurs kunnen niet eenvoudig zien welke fouten een stijgende trend vertonen</a:t>
            </a:r>
          </a:p>
          <a:p>
            <a:pPr algn="l">
              <a:spcBef>
                <a:spcPts val="800"/>
              </a:spcBef>
            </a:pPr>
            <a:r>
              <a:rPr sz="1400" b="0" i="0">
                <a:solidFill>
                  <a:srgbClr val="D0D8E8"/>
                </a:solidFill>
              </a:rPr>
              <a:t>›  De oorzaak van interlock-ketens opsporen is manueel en tijdrovend</a:t>
            </a:r>
          </a:p>
          <a:p>
            <a:pPr algn="l">
              <a:spcBef>
                <a:spcPts val="800"/>
              </a:spcBef>
            </a:pPr>
            <a:r>
              <a:rPr sz="1400" b="0" i="0">
                <a:solidFill>
                  <a:srgbClr val="D0D8E8"/>
                </a:solidFill>
              </a:rPr>
              <a:t>›  Geen geautomatiseerde rapportage of PDF-exports voor ploegenoverdracht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89320" y="1508760"/>
            <a:ext cx="164592" cy="347472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17920" y="1508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86B1A"/>
                </a:solidFill>
              </a:rPr>
              <a:t>Onze Oplossing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1965960"/>
            <a:ext cx="54864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800"/>
              </a:spcBef>
            </a:pPr>
            <a:r>
              <a:rPr sz="1400" b="0" i="0">
                <a:solidFill>
                  <a:srgbClr val="D0D8E8"/>
                </a:solidFill>
              </a:rPr>
              <a:t>›  Python / Flask-webapplicatie via IIS — geen nieuwe login vereist</a:t>
            </a:r>
          </a:p>
          <a:p>
            <a:pPr algn="l">
              <a:spcBef>
                <a:spcPts val="800"/>
              </a:spcBef>
            </a:pPr>
            <a:r>
              <a:rPr sz="1400" b="0" i="0">
                <a:solidFill>
                  <a:srgbClr val="D0D8E8"/>
                </a:solidFill>
              </a:rPr>
              <a:t>›  Interactief dashboard: 6 grafieken + heatmap op basis van historische SQL Server-data</a:t>
            </a:r>
          </a:p>
          <a:p>
            <a:pPr algn="l">
              <a:spcBef>
                <a:spcPts val="800"/>
              </a:spcBef>
            </a:pPr>
            <a:r>
              <a:rPr sz="1400" b="0" i="0">
                <a:solidFill>
                  <a:srgbClr val="D0D8E8"/>
                </a:solidFill>
              </a:rPr>
              <a:t>›  Recursieve interlock-ketentracer: vind de oorzaakfout in seconden</a:t>
            </a:r>
          </a:p>
          <a:p>
            <a:pPr algn="l">
              <a:spcBef>
                <a:spcPts val="800"/>
              </a:spcBef>
            </a:pPr>
            <a:r>
              <a:rPr sz="1400" b="0" i="0">
                <a:solidFill>
                  <a:srgbClr val="D0D8E8"/>
                </a:solidFill>
              </a:rPr>
              <a:t>›  Wekelijkse foutopnames voor langetermijntrend- en regressiedetectie</a:t>
            </a:r>
          </a:p>
          <a:p>
            <a:pPr algn="l">
              <a:spcBef>
                <a:spcPts val="800"/>
              </a:spcBef>
            </a:pPr>
            <a:r>
              <a:rPr sz="1400" b="0" i="0">
                <a:solidFill>
                  <a:srgbClr val="D0D8E8"/>
                </a:solidFill>
              </a:rPr>
              <a:t>›  Één-klik PDF-export voor zowel het dashboard als de interlock-boom</a:t>
            </a:r>
          </a:p>
          <a:p>
            <a:pPr algn="l">
              <a:spcBef>
                <a:spcPts val="800"/>
              </a:spcBef>
            </a:pPr>
            <a:r>
              <a:rPr sz="1400" b="0" i="0">
                <a:solidFill>
                  <a:srgbClr val="D0D8E8"/>
                </a:solidFill>
              </a:rPr>
              <a:t>›  Subsecondequery's via geoptimaliseerde SQL Server TVF's en indexen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Doelen &amp; Succescriteria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601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D0D8E8"/>
                </a:solidFill>
              </a:rPr>
              <a:t>Hoe ziet 'klaar' eruit?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508760"/>
            <a:ext cx="914400" cy="32918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1508760"/>
            <a:ext cx="914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233A"/>
                </a:solidFill>
              </a:rPr>
              <a:t>KLAAR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10424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DB-verbinding via SQLAlchemy + pyodbc (SQL Server)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911095"/>
            <a:ext cx="914400" cy="32918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0040" y="1911095"/>
            <a:ext cx="914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233A"/>
                </a:solidFill>
              </a:rPr>
              <a:t>KLAAR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929384"/>
            <a:ext cx="10424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Interlock-ketenopsporing met recursieve SQL-functie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313432"/>
            <a:ext cx="914400" cy="32918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20040" y="2313432"/>
            <a:ext cx="914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233A"/>
                </a:solidFill>
              </a:rPr>
              <a:t>KLAAR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331720"/>
            <a:ext cx="10424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Grafiekendashboard: fouten/uur, MTBF, top stijgers, heatmap …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715768"/>
            <a:ext cx="914400" cy="32918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0040" y="2715768"/>
            <a:ext cx="914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233A"/>
                </a:solidFill>
              </a:rPr>
              <a:t>KLAAR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2734056"/>
            <a:ext cx="10424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Inklapbare interlock-boomtabel met server-side filters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3118103"/>
            <a:ext cx="914400" cy="32918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20040" y="3118103"/>
            <a:ext cx="914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233A"/>
                </a:solidFill>
              </a:rPr>
              <a:t>KLAAR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136391"/>
            <a:ext cx="10424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PDF-export — dashboard (6 grafieken) en interlock-boom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3520439"/>
            <a:ext cx="914400" cy="32918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20040" y="3520439"/>
            <a:ext cx="914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233A"/>
                </a:solidFill>
              </a:rPr>
              <a:t>KLAAR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3538727"/>
            <a:ext cx="10424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Wekelijkse foutopnames + historische referentiedatumkiezer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3922776"/>
            <a:ext cx="914400" cy="32918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20040" y="3922776"/>
            <a:ext cx="914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233A"/>
                </a:solidFill>
              </a:rPr>
              <a:t>KLAAR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3941063"/>
            <a:ext cx="10424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Queryprestaties: van ~8 s naar &lt; 1 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4325112"/>
            <a:ext cx="914400" cy="329184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20040" y="4325112"/>
            <a:ext cx="914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233A"/>
                </a:solidFill>
              </a:rPr>
              <a:t>BEZIG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4343400"/>
            <a:ext cx="10424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D8E8"/>
                </a:solidFill>
              </a:rPr>
              <a:t>Geplande dagelijkse opnames + geautomatiseerd wekelijks e-mailrapport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4727448"/>
            <a:ext cx="914400" cy="329184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20040" y="4727448"/>
            <a:ext cx="914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233A"/>
                </a:solidFill>
              </a:rPr>
              <a:t>BEZIG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4745736"/>
            <a:ext cx="10424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D8E8"/>
                </a:solidFill>
              </a:rPr>
              <a:t>Definitieve IIS-implementatie + gebruikersacceptatietest (doel: 11 juni 2026)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" y="5129784"/>
            <a:ext cx="914400" cy="329184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20040" y="5129784"/>
            <a:ext cx="914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233A"/>
                </a:solidFill>
              </a:rPr>
              <a:t>LATER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71600" y="5148072"/>
            <a:ext cx="10424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D8E8"/>
                </a:solidFill>
              </a:rPr>
              <a:t>Rolgebaseerde toegang (alleen-lezen vs. beheerdersconfiguratie)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5532120"/>
            <a:ext cx="914400" cy="329184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20040" y="5532120"/>
            <a:ext cx="914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233A"/>
                </a:solidFill>
              </a:rPr>
              <a:t>LATER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71600" y="5550408"/>
            <a:ext cx="10424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D8E8"/>
                </a:solidFill>
              </a:rPr>
              <a:t>Configureerbare drempelwaarden met Teams-/e-mailmeldingen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Team &amp; Verantwoordelijkheden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508760"/>
            <a:ext cx="5394960" cy="4754880"/>
          </a:xfrm>
          <a:prstGeom prst="rect">
            <a:avLst/>
          </a:prstGeom>
          <a:solidFill>
            <a:srgbClr val="0D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20040" y="1508760"/>
            <a:ext cx="5394960" cy="50292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536192"/>
            <a:ext cx="5120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Benoit Goethals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148840"/>
            <a:ext cx="50292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700"/>
              </a:spcBef>
            </a:pPr>
            <a:r>
              <a:rPr sz="1300" b="0" i="0">
                <a:solidFill>
                  <a:srgbClr val="D0D8E8"/>
                </a:solidFill>
              </a:rPr>
              <a:t>·  Frontend — UI-ontwerp, Jinja2-templates, Bootstrap 5-layout</a:t>
            </a:r>
          </a:p>
          <a:p>
            <a:pPr algn="l">
              <a:spcBef>
                <a:spcPts val="700"/>
              </a:spcBef>
            </a:pPr>
            <a:r>
              <a:rPr sz="1300" b="0" i="0">
                <a:solidFill>
                  <a:srgbClr val="D0D8E8"/>
                </a:solidFill>
              </a:rPr>
              <a:t>·  Visualisaties — Plotly-grafieken (staaf, taart, heatmap)</a:t>
            </a:r>
          </a:p>
          <a:p>
            <a:pPr algn="l">
              <a:spcBef>
                <a:spcPts val="700"/>
              </a:spcBef>
            </a:pPr>
            <a:r>
              <a:rPr sz="1300" b="0" i="0">
                <a:solidFill>
                  <a:srgbClr val="D0D8E8"/>
                </a:solidFill>
              </a:rPr>
              <a:t>·  Flask-routes, Blueprint-structuur, formulierverwerking</a:t>
            </a:r>
          </a:p>
          <a:p>
            <a:pPr algn="l">
              <a:spcBef>
                <a:spcPts val="700"/>
              </a:spcBef>
            </a:pPr>
            <a:r>
              <a:rPr sz="1300" b="0" i="0">
                <a:solidFill>
                  <a:srgbClr val="D0D8E8"/>
                </a:solidFill>
              </a:rPr>
              <a:t>·  PDF-export — DiagramPdfService, Kaleido + ReportLab</a:t>
            </a:r>
          </a:p>
          <a:p>
            <a:pPr algn="l">
              <a:spcBef>
                <a:spcPts val="700"/>
              </a:spcBef>
            </a:pPr>
            <a:r>
              <a:rPr sz="1300" b="0" i="0">
                <a:solidFill>
                  <a:srgbClr val="D0D8E8"/>
                </a:solidFill>
              </a:rPr>
              <a:t>·  JavaScript: inklapbare boom, async PDF-download, globale laadindicator</a:t>
            </a:r>
          </a:p>
          <a:p>
            <a:pPr algn="l">
              <a:spcBef>
                <a:spcPts val="700"/>
              </a:spcBef>
            </a:pPr>
            <a:r>
              <a:rPr sz="1300" b="0" i="0">
                <a:solidFill>
                  <a:srgbClr val="D0D8E8"/>
                </a:solidFill>
              </a:rPr>
              <a:t>·  Documentatie: README, CHANGELOG, PROJECT_PROGRESS, architectuurdocs</a:t>
            </a:r>
          </a:p>
          <a:p>
            <a:pPr algn="l">
              <a:spcBef>
                <a:spcPts val="700"/>
              </a:spcBef>
            </a:pPr>
            <a:r>
              <a:rPr sz="1300" b="0" i="0">
                <a:solidFill>
                  <a:srgbClr val="D0D8E8"/>
                </a:solidFill>
              </a:rPr>
              <a:t>·  Prestaties: herschrijven van query's en afstemmen van DB-indexen</a:t>
            </a:r>
          </a:p>
        </p:txBody>
      </p:sp>
      <p:sp>
        <p:nvSpPr>
          <p:cNvPr id="9" name="Rectangle 8"/>
          <p:cNvSpPr/>
          <p:nvPr/>
        </p:nvSpPr>
        <p:spPr>
          <a:xfrm>
            <a:off x="5989320" y="1508760"/>
            <a:ext cx="5879592" cy="4754880"/>
          </a:xfrm>
          <a:prstGeom prst="rect">
            <a:avLst/>
          </a:prstGeom>
          <a:solidFill>
            <a:srgbClr val="0D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989320" y="1508760"/>
            <a:ext cx="5879592" cy="502920"/>
          </a:xfrm>
          <a:prstGeom prst="rect">
            <a:avLst/>
          </a:prstGeom>
          <a:solidFill>
            <a:srgbClr val="145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126480" y="1536192"/>
            <a:ext cx="5577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Tom Van de Vyver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2148840"/>
            <a:ext cx="54864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700"/>
              </a:spcBef>
            </a:pPr>
            <a:r>
              <a:rPr sz="1300" b="0" i="0">
                <a:solidFill>
                  <a:srgbClr val="D0D8E8"/>
                </a:solidFill>
              </a:rPr>
              <a:t>·  Backend — databaseontwerp en -normalisatie</a:t>
            </a:r>
          </a:p>
          <a:p>
            <a:pPr algn="l">
              <a:spcBef>
                <a:spcPts val="700"/>
              </a:spcBef>
            </a:pPr>
            <a:r>
              <a:rPr sz="1300" b="0" i="0">
                <a:solidFill>
                  <a:srgbClr val="D0D8E8"/>
                </a:solidFill>
              </a:rPr>
              <a:t>·  SQL Server: TVF's, opgeslagen procedures, views, indexen</a:t>
            </a:r>
          </a:p>
          <a:p>
            <a:pPr algn="l">
              <a:spcBef>
                <a:spcPts val="700"/>
              </a:spcBef>
            </a:pPr>
            <a:r>
              <a:rPr sz="1300" b="0" i="0">
                <a:solidFill>
                  <a:srgbClr val="D0D8E8"/>
                </a:solidFill>
              </a:rPr>
              <a:t>·  SQLAlchemy ORM-modellen en repositorylaag</a:t>
            </a:r>
          </a:p>
          <a:p>
            <a:pPr algn="l">
              <a:spcBef>
                <a:spcPts val="700"/>
              </a:spcBef>
            </a:pPr>
            <a:r>
              <a:rPr sz="1300" b="0" i="0">
                <a:solidFill>
                  <a:srgbClr val="D0D8E8"/>
                </a:solidFill>
              </a:rPr>
              <a:t>·  InterlockService: engine voor oorzaakanalyse van ketens</a:t>
            </a:r>
          </a:p>
          <a:p>
            <a:pPr algn="l">
              <a:spcBef>
                <a:spcPts val="700"/>
              </a:spcBef>
            </a:pPr>
            <a:r>
              <a:rPr sz="1300" b="0" i="0">
                <a:solidFill>
                  <a:srgbClr val="D0D8E8"/>
                </a:solidFill>
              </a:rPr>
              <a:t>·  Opnamesysteem: wekelijkse foutopnames + terugvullscripts</a:t>
            </a:r>
          </a:p>
          <a:p>
            <a:pPr algn="l">
              <a:spcBef>
                <a:spcPts val="700"/>
              </a:spcBef>
            </a:pPr>
            <a:r>
              <a:rPr sz="1300" b="0" i="0">
                <a:solidFill>
                  <a:srgbClr val="D0D8E8"/>
                </a:solidFill>
              </a:rPr>
              <a:t>·  MailService: SMTP-gebaseerde geautomatiseerde e-mailrapporten</a:t>
            </a:r>
          </a:p>
          <a:p>
            <a:pPr algn="l">
              <a:spcBef>
                <a:spcPts val="700"/>
              </a:spcBef>
            </a:pPr>
            <a:r>
              <a:rPr sz="1300" b="0" i="0">
                <a:solidFill>
                  <a:srgbClr val="D0D8E8"/>
                </a:solidFill>
              </a:rPr>
              <a:t>·  DB-migratiescripts en validatiegereedschappen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Werkwijze &amp; Methodologie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508760"/>
            <a:ext cx="2834640" cy="4892040"/>
          </a:xfrm>
          <a:prstGeom prst="rect">
            <a:avLst/>
          </a:prstGeom>
          <a:solidFill>
            <a:srgbClr val="0D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20040" y="1508760"/>
            <a:ext cx="2834640" cy="4572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79" y="1536192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Git 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2084831"/>
            <a:ext cx="2651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900"/>
              </a:spcBef>
            </a:pPr>
            <a:r>
              <a:rPr sz="1200" b="0" i="0">
                <a:solidFill>
                  <a:srgbClr val="D0D8E8"/>
                </a:solidFill>
              </a:rPr>
              <a:t>·  main  →  Develop  →  feature-branches</a:t>
            </a:r>
          </a:p>
          <a:p>
            <a:pPr algn="l">
              <a:spcBef>
                <a:spcPts val="900"/>
              </a:spcBef>
            </a:pPr>
            <a:r>
              <a:rPr sz="1200" b="0" i="0">
                <a:solidFill>
                  <a:srgbClr val="D0D8E8"/>
                </a:solidFill>
              </a:rPr>
              <a:t>·  Pull requests voor elke functionaliteit (50+ PR's samengevoegd)</a:t>
            </a:r>
          </a:p>
          <a:p>
            <a:pPr algn="l">
              <a:spcBef>
                <a:spcPts val="900"/>
              </a:spcBef>
            </a:pPr>
            <a:r>
              <a:rPr sz="1200" b="0" i="0">
                <a:solidFill>
                  <a:srgbClr val="D0D8E8"/>
                </a:solidFill>
              </a:rPr>
              <a:t>·  Branchnamen volgen GitHub-issuenummers</a:t>
            </a:r>
          </a:p>
          <a:p>
            <a:pPr algn="l">
              <a:spcBef>
                <a:spcPts val="900"/>
              </a:spcBef>
            </a:pPr>
            <a:r>
              <a:rPr sz="1200" b="0" i="0">
                <a:solidFill>
                  <a:srgbClr val="D0D8E8"/>
                </a:solidFill>
              </a:rPr>
              <a:t>·  Geen directe commits naar Develop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508760"/>
            <a:ext cx="2834640" cy="4892040"/>
          </a:xfrm>
          <a:prstGeom prst="rect">
            <a:avLst/>
          </a:prstGeom>
          <a:solidFill>
            <a:srgbClr val="0D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200400" y="1508760"/>
            <a:ext cx="2834640" cy="457200"/>
          </a:xfrm>
          <a:prstGeom prst="rect">
            <a:avLst/>
          </a:prstGeom>
          <a:solidFill>
            <a:srgbClr val="145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91840" y="1536192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Agile Iteraties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2084831"/>
            <a:ext cx="2651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900"/>
              </a:spcBef>
            </a:pPr>
            <a:r>
              <a:rPr sz="1200" b="0" i="0">
                <a:solidFill>
                  <a:srgbClr val="D0D8E8"/>
                </a:solidFill>
              </a:rPr>
              <a:t>·  Korte cycli: bouwen → testen → reviewen → samenvoegen</a:t>
            </a:r>
          </a:p>
          <a:p>
            <a:pPr algn="l">
              <a:spcBef>
                <a:spcPts val="900"/>
              </a:spcBef>
            </a:pPr>
            <a:r>
              <a:rPr sz="1200" b="0" i="0">
                <a:solidFill>
                  <a:srgbClr val="D0D8E8"/>
                </a:solidFill>
              </a:rPr>
              <a:t>·  Prioriteiten verschuiven op basis van feedback van ingenieurs</a:t>
            </a:r>
          </a:p>
          <a:p>
            <a:pPr algn="l">
              <a:spcBef>
                <a:spcPts val="900"/>
              </a:spcBef>
            </a:pPr>
            <a:r>
              <a:rPr sz="1200" b="0" i="0">
                <a:solidFill>
                  <a:srgbClr val="D0D8E8"/>
                </a:solidFill>
              </a:rPr>
              <a:t>·  Wekelijkse synchronisatie tussen Benoit en Tom</a:t>
            </a:r>
          </a:p>
          <a:p>
            <a:pPr algn="l">
              <a:spcBef>
                <a:spcPts val="900"/>
              </a:spcBef>
            </a:pPr>
            <a:r>
              <a:rPr sz="1200" b="0" i="0">
                <a:solidFill>
                  <a:srgbClr val="D0D8E8"/>
                </a:solidFill>
              </a:rPr>
              <a:t>·  Maandelijkse voortgangsrapportage aan belanghebbenden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80760" y="1508760"/>
            <a:ext cx="2834640" cy="4892040"/>
          </a:xfrm>
          <a:prstGeom prst="rect">
            <a:avLst/>
          </a:prstGeom>
          <a:solidFill>
            <a:srgbClr val="0D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080760" y="1508760"/>
            <a:ext cx="2834640" cy="4572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172200" y="1536192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Kwaliteitspraktijken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2084831"/>
            <a:ext cx="2651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900"/>
              </a:spcBef>
            </a:pPr>
            <a:r>
              <a:rPr sz="1200" b="0" i="0">
                <a:solidFill>
                  <a:srgbClr val="D0D8E8"/>
                </a:solidFill>
              </a:rPr>
              <a:t>·  SQLAlchemy 2.0-conformiteit overal afgedwongen</a:t>
            </a:r>
          </a:p>
          <a:p>
            <a:pPr algn="l">
              <a:spcBef>
                <a:spcPts val="900"/>
              </a:spcBef>
            </a:pPr>
            <a:r>
              <a:rPr sz="1200" b="0" i="0">
                <a:solidFill>
                  <a:srgbClr val="D0D8E8"/>
                </a:solidFill>
              </a:rPr>
              <a:t>·  SOLID-principes toegepast op de servicelaag</a:t>
            </a:r>
          </a:p>
          <a:p>
            <a:pPr algn="l">
              <a:spcBef>
                <a:spcPts val="900"/>
              </a:spcBef>
            </a:pPr>
            <a:r>
              <a:rPr sz="1200" b="0" i="0">
                <a:solidFill>
                  <a:srgbClr val="D0D8E8"/>
                </a:solidFill>
              </a:rPr>
              <a:t>·  Logging toegevoegd aan servicegrenzen voor traceerbaarheid</a:t>
            </a:r>
          </a:p>
          <a:p>
            <a:pPr algn="l">
              <a:spcBef>
                <a:spcPts val="900"/>
              </a:spcBef>
            </a:pPr>
            <a:r>
              <a:rPr sz="1200" b="0" i="0">
                <a:solidFill>
                  <a:srgbClr val="D0D8E8"/>
                </a:solidFill>
              </a:rPr>
              <a:t>·  SQL-scripts afzonderlijk getest vóór integratie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61120" y="1508760"/>
            <a:ext cx="2834640" cy="4892040"/>
          </a:xfrm>
          <a:prstGeom prst="rect">
            <a:avLst/>
          </a:prstGeom>
          <a:solidFill>
            <a:srgbClr val="0D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961120" y="1508760"/>
            <a:ext cx="2834640" cy="457200"/>
          </a:xfrm>
          <a:prstGeom prst="rect">
            <a:avLst/>
          </a:prstGeom>
          <a:solidFill>
            <a:srgbClr val="145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052560" y="1536192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Gereedschappen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2084831"/>
            <a:ext cx="2651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900"/>
              </a:spcBef>
            </a:pPr>
            <a:r>
              <a:rPr sz="1200" b="0" i="0">
                <a:solidFill>
                  <a:srgbClr val="D0D8E8"/>
                </a:solidFill>
              </a:rPr>
              <a:t>·  PyCharm (IDE)  ·  GitHub (versiebeheer &amp; PR's)</a:t>
            </a:r>
          </a:p>
          <a:p>
            <a:pPr algn="l">
              <a:spcBef>
                <a:spcPts val="900"/>
              </a:spcBef>
            </a:pPr>
            <a:r>
              <a:rPr sz="1200" b="0" i="0">
                <a:solidFill>
                  <a:srgbClr val="D0D8E8"/>
                </a:solidFill>
              </a:rPr>
              <a:t>·  Flask-ontwikkelserver voor lokaal testen</a:t>
            </a:r>
          </a:p>
          <a:p>
            <a:pPr algn="l">
              <a:spcBef>
                <a:spcPts val="900"/>
              </a:spcBef>
            </a:pPr>
            <a:r>
              <a:rPr sz="1200" b="0" i="0">
                <a:solidFill>
                  <a:srgbClr val="D0D8E8"/>
                </a:solidFill>
              </a:rPr>
              <a:t>·  IIS als productieomgeving</a:t>
            </a:r>
          </a:p>
          <a:p>
            <a:pPr algn="l">
              <a:spcBef>
                <a:spcPts val="900"/>
              </a:spcBef>
            </a:pPr>
            <a:r>
              <a:rPr sz="1200" b="0" i="0">
                <a:solidFill>
                  <a:srgbClr val="D0D8E8"/>
                </a:solidFill>
              </a:rPr>
              <a:t>·  Plotly + Kaleido voor grafiek-naar-PNG-rendering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Architectuur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601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D0D8E8"/>
                </a:solidFill>
              </a:rPr>
              <a:t>Drielaagse Flask-applicatie op IIS</a:t>
            </a:r>
          </a:p>
        </p:txBody>
      </p:sp>
      <p:pic>
        <p:nvPicPr>
          <p:cNvPr id="6" name="Picture 5" descr="HighLevelArchitecture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508760"/>
            <a:ext cx="6858000" cy="48463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360920" y="1508760"/>
            <a:ext cx="4572000" cy="4846320"/>
          </a:xfrm>
          <a:prstGeom prst="rect">
            <a:avLst/>
          </a:prstGeom>
          <a:solidFill>
            <a:srgbClr val="0D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98079" y="1600200"/>
            <a:ext cx="4297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E86B1A"/>
                </a:solidFill>
              </a:rPr>
              <a:t>Presentatielaag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E86B1A"/>
                </a:solidFill>
              </a:rPr>
              <a:t>Flask Blueprints · Jinja2-templates · Bootstrap 5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E86B1A"/>
                </a:solidFill>
              </a:rPr>
              <a:t>Bedrijfslaag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E86B1A"/>
                </a:solidFill>
              </a:rPr>
              <a:t>InterlockService · FaultCountService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E86B1A"/>
                </a:solidFill>
              </a:rPr>
              <a:t>Datalaag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E86B1A"/>
                </a:solidFill>
              </a:rPr>
              <a:t>SQLAlchemy ORM · SnapshotRepository · DB_Connection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E86B1A"/>
                </a:solidFill>
              </a:rPr>
              <a:t>Database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603504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7A99"/>
                </a:solidFill>
              </a:rPr>
              <a:t>SQL Server  →  Repository  →  Service  →  Template  →  Browser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Sleutelfuncties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601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D0D8E8"/>
                </a:solidFill>
              </a:rPr>
              <a:t>Wat de applicatie biedt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508760"/>
            <a:ext cx="2834640" cy="4892040"/>
          </a:xfrm>
          <a:prstGeom prst="rect">
            <a:avLst/>
          </a:prstGeom>
          <a:solidFill>
            <a:srgbClr val="0D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508760"/>
            <a:ext cx="2834640" cy="41148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79" y="1527048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Grafiekendashboard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196596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E86B1A"/>
                </a:solidFill>
              </a:rPr>
              <a:t>/plc/diagrams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2286000"/>
            <a:ext cx="26517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700"/>
              </a:spcBef>
            </a:pPr>
            <a:r>
              <a:rPr sz="1100" b="0" i="0">
                <a:solidFill>
                  <a:srgbClr val="D0D8E8"/>
                </a:solidFill>
              </a:rPr>
              <a:t>·  Fouten per uur (staafdiagram)</a:t>
            </a:r>
          </a:p>
          <a:p>
            <a:pPr algn="l">
              <a:spcBef>
                <a:spcPts val="700"/>
              </a:spcBef>
            </a:pPr>
            <a:r>
              <a:rPr sz="1100" b="0" i="0">
                <a:solidFill>
                  <a:srgbClr val="D0D8E8"/>
                </a:solidFill>
              </a:rPr>
              <a:t>·  Fouten per PLC — taartdiagram</a:t>
            </a:r>
          </a:p>
          <a:p>
            <a:pPr algn="l">
              <a:spcBef>
                <a:spcPts val="700"/>
              </a:spcBef>
            </a:pPr>
            <a:r>
              <a:rPr sz="1100" b="0" i="0">
                <a:solidFill>
                  <a:srgbClr val="D0D8E8"/>
                </a:solidFill>
              </a:rPr>
              <a:t>·  Top stijgers (week-over-week klimmende fouten)</a:t>
            </a:r>
          </a:p>
          <a:p>
            <a:pPr algn="l">
              <a:spcBef>
                <a:spcPts val="700"/>
              </a:spcBef>
            </a:pPr>
            <a:r>
              <a:rPr sz="1100" b="0" i="0">
                <a:solidFill>
                  <a:srgbClr val="D0D8E8"/>
                </a:solidFill>
              </a:rPr>
              <a:t>·  MTBF per PLC</a:t>
            </a:r>
          </a:p>
          <a:p>
            <a:pPr algn="l">
              <a:spcBef>
                <a:spcPts val="700"/>
              </a:spcBef>
            </a:pPr>
            <a:r>
              <a:rPr sz="1100" b="0" i="0">
                <a:solidFill>
                  <a:srgbClr val="D0D8E8"/>
                </a:solidFill>
              </a:rPr>
              <a:t>·  Top 10 klimmende fouten</a:t>
            </a:r>
          </a:p>
          <a:p>
            <a:pPr algn="l">
              <a:spcBef>
                <a:spcPts val="700"/>
              </a:spcBef>
            </a:pPr>
            <a:r>
              <a:rPr sz="1100" b="0" i="0">
                <a:solidFill>
                  <a:srgbClr val="D0D8E8"/>
                </a:solidFill>
              </a:rPr>
              <a:t>·  Terugkerende stoorders (max. voorvallen per uur)</a:t>
            </a:r>
          </a:p>
          <a:p>
            <a:pPr algn="l">
              <a:spcBef>
                <a:spcPts val="700"/>
              </a:spcBef>
            </a:pPr>
            <a:r>
              <a:rPr sz="1100" b="0" i="0">
                <a:solidFill>
                  <a:srgbClr val="D0D8E8"/>
                </a:solidFill>
              </a:rPr>
              <a:t>·  Heatmap: uur × dag per geselecteerde PLC</a:t>
            </a:r>
          </a:p>
          <a:p>
            <a:pPr algn="l">
              <a:spcBef>
                <a:spcPts val="700"/>
              </a:spcBef>
            </a:pPr>
            <a:r>
              <a:rPr sz="1100" b="0" i="0">
                <a:solidFill>
                  <a:srgbClr val="D0D8E8"/>
                </a:solidFill>
              </a:rPr>
              <a:t>·  Historische week-/maandkiezer via referentiedatum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0" y="1508760"/>
            <a:ext cx="2834640" cy="4892040"/>
          </a:xfrm>
          <a:prstGeom prst="rect">
            <a:avLst/>
          </a:prstGeom>
          <a:solidFill>
            <a:srgbClr val="0D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200400" y="1508760"/>
            <a:ext cx="2834640" cy="411480"/>
          </a:xfrm>
          <a:prstGeom prst="rect">
            <a:avLst/>
          </a:prstGeom>
          <a:solidFill>
            <a:srgbClr val="145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291840" y="1527048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Interlock-boom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196596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E86B1A"/>
                </a:solidFill>
              </a:rPr>
              <a:t>/plc/table-tree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2286000"/>
            <a:ext cx="26517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700"/>
              </a:spcBef>
            </a:pPr>
            <a:r>
              <a:rPr sz="1100" b="0" i="0">
                <a:solidFill>
                  <a:srgbClr val="D0D8E8"/>
                </a:solidFill>
              </a:rPr>
              <a:t>·  Recursieve foutketentracer in SQL</a:t>
            </a:r>
          </a:p>
          <a:p>
            <a:pPr algn="l">
              <a:spcBef>
                <a:spcPts val="700"/>
              </a:spcBef>
            </a:pPr>
            <a:r>
              <a:rPr sz="1100" b="0" i="0">
                <a:solidFill>
                  <a:srgbClr val="D0D8E8"/>
                </a:solidFill>
              </a:rPr>
              <a:t>·  Filters: doel-BSID, Top N, PLC, tijdsbereik, conditiememnonic</a:t>
            </a:r>
          </a:p>
          <a:p>
            <a:pPr algn="l">
              <a:spcBef>
                <a:spcPts val="700"/>
              </a:spcBef>
            </a:pPr>
            <a:r>
              <a:rPr sz="1100" b="0" i="0">
                <a:solidFill>
                  <a:srgbClr val="D0D8E8"/>
                </a:solidFill>
              </a:rPr>
              <a:t>·  Inklapbare boomrijen — uitklappen/inklappen per knoop</a:t>
            </a:r>
          </a:p>
          <a:p>
            <a:pPr algn="l">
              <a:spcBef>
                <a:spcPts val="700"/>
              </a:spcBef>
            </a:pPr>
            <a:r>
              <a:rPr sz="1100" b="0" i="0">
                <a:solidFill>
                  <a:srgbClr val="D0D8E8"/>
                </a:solidFill>
              </a:rPr>
              <a:t>·  POST-redirect-GET-patroon voorkomt dubbele verzending</a:t>
            </a:r>
          </a:p>
          <a:p>
            <a:pPr algn="l">
              <a:spcBef>
                <a:spcPts val="700"/>
              </a:spcBef>
            </a:pPr>
            <a:r>
              <a:rPr sz="1100" b="0" i="0">
                <a:solidFill>
                  <a:srgbClr val="D0D8E8"/>
                </a:solidFill>
              </a:rPr>
              <a:t>·  Server-side validatie met flashberichten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80760" y="1508760"/>
            <a:ext cx="2834640" cy="4892040"/>
          </a:xfrm>
          <a:prstGeom prst="rect">
            <a:avLst/>
          </a:prstGeom>
          <a:solidFill>
            <a:srgbClr val="0D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080760" y="1508760"/>
            <a:ext cx="2834640" cy="41148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172200" y="1527048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PDF-exports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196596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E86B1A"/>
                </a:solidFill>
              </a:rPr>
              <a:t>/plc/diagrams-pdf  &amp;  table-tree PDF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2286000"/>
            <a:ext cx="26517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700"/>
              </a:spcBef>
            </a:pPr>
            <a:r>
              <a:rPr sz="1100" b="0" i="0">
                <a:solidFill>
                  <a:srgbClr val="D0D8E8"/>
                </a:solidFill>
              </a:rPr>
              <a:t>·  Alle 6 dashboardgrafieken → PNG (Kaleido) → liggend PDF (ReportLab)</a:t>
            </a:r>
          </a:p>
          <a:p>
            <a:pPr algn="l">
              <a:spcBef>
                <a:spcPts val="700"/>
              </a:spcBef>
            </a:pPr>
            <a:r>
              <a:rPr sz="1100" b="0" i="0">
                <a:solidFill>
                  <a:srgbClr val="D0D8E8"/>
                </a:solidFill>
              </a:rPr>
              <a:t>·  Interlock-boom geëxporteerd als opgemaakte PDF-tabel</a:t>
            </a:r>
          </a:p>
          <a:p>
            <a:pPr algn="l">
              <a:spcBef>
                <a:spcPts val="700"/>
              </a:spcBef>
            </a:pPr>
            <a:r>
              <a:rPr sz="1100" b="0" i="0">
                <a:solidFill>
                  <a:srgbClr val="D0D8E8"/>
                </a:solidFill>
              </a:rPr>
              <a:t>·  Async download via fetch — geen pagina-herlaad</a:t>
            </a:r>
          </a:p>
          <a:p>
            <a:pPr algn="l">
              <a:spcBef>
                <a:spcPts val="700"/>
              </a:spcBef>
            </a:pPr>
            <a:r>
              <a:rPr sz="1100" b="0" i="0">
                <a:solidFill>
                  <a:srgbClr val="D0D8E8"/>
                </a:solidFill>
              </a:rPr>
              <a:t>·  Globale laadindicator getoond tijdens genereren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61120" y="1508760"/>
            <a:ext cx="2834640" cy="4892040"/>
          </a:xfrm>
          <a:prstGeom prst="rect">
            <a:avLst/>
          </a:prstGeom>
          <a:solidFill>
            <a:srgbClr val="0D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961120" y="1508760"/>
            <a:ext cx="2834640" cy="411480"/>
          </a:xfrm>
          <a:prstGeom prst="rect">
            <a:avLst/>
          </a:prstGeom>
          <a:solidFill>
            <a:srgbClr val="145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052560" y="1527048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Opname &amp; Rapportage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0" y="196596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E86B1A"/>
                </a:solidFill>
              </a:rPr>
              <a:t>run_daily_snapshot.py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0" y="2286000"/>
            <a:ext cx="26517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700"/>
              </a:spcBef>
            </a:pPr>
            <a:r>
              <a:rPr sz="1100" b="0" i="0">
                <a:solidFill>
                  <a:srgbClr val="D0D8E8"/>
                </a:solidFill>
              </a:rPr>
              <a:t>·  Wekelijkse fouttellingopnames opgeslagen in DB</a:t>
            </a:r>
          </a:p>
          <a:p>
            <a:pPr algn="l">
              <a:spcBef>
                <a:spcPts val="700"/>
              </a:spcBef>
            </a:pPr>
            <a:r>
              <a:rPr sz="1100" b="0" i="0">
                <a:solidFill>
                  <a:srgbClr val="D0D8E8"/>
                </a:solidFill>
              </a:rPr>
              <a:t>·  Terugvulondersteuning voor meerdere productiedatabases</a:t>
            </a:r>
          </a:p>
          <a:p>
            <a:pPr algn="l">
              <a:spcBef>
                <a:spcPts val="700"/>
              </a:spcBef>
            </a:pPr>
            <a:r>
              <a:rPr sz="1100" b="0" i="0">
                <a:solidFill>
                  <a:srgbClr val="D0D8E8"/>
                </a:solidFill>
              </a:rPr>
              <a:t>·  Langetermijnregressieweergave: trends vergelijken over maanden</a:t>
            </a:r>
          </a:p>
          <a:p>
            <a:pPr algn="l">
              <a:spcBef>
                <a:spcPts val="700"/>
              </a:spcBef>
            </a:pPr>
            <a:r>
              <a:rPr sz="1100" b="0" i="0">
                <a:solidFill>
                  <a:srgbClr val="D0D8E8"/>
                </a:solidFill>
              </a:rPr>
              <a:t>·  MailService klaar voor geautomatiseerde wekelijkse e-mailbezorging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Voortgangstijdlijn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601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D0D8E8"/>
                </a:solidFill>
              </a:rPr>
              <a:t>November 2025 → Mei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508760"/>
            <a:ext cx="1463040" cy="804672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1709928"/>
            <a:ext cx="1463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Nov 2025</a:t>
            </a:r>
          </a:p>
        </p:txBody>
      </p:sp>
      <p:sp>
        <p:nvSpPr>
          <p:cNvPr id="8" name="Rectangle 7"/>
          <p:cNvSpPr/>
          <p:nvPr/>
        </p:nvSpPr>
        <p:spPr>
          <a:xfrm>
            <a:off x="1920240" y="1819656"/>
            <a:ext cx="9948672" cy="36576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920240" y="1508760"/>
            <a:ext cx="9948672" cy="804672"/>
          </a:xfrm>
          <a:prstGeom prst="rect">
            <a:avLst/>
          </a:prstGeom>
          <a:solidFill>
            <a:srgbClr val="0D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057400" y="1527048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6B1A"/>
                </a:solidFill>
              </a:rPr>
              <a:t>Fase 1 — Setup &amp; PoC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1892807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8E8"/>
                </a:solidFill>
              </a:rPr>
              <a:t>Flask-app · Blueprint-routing · Plotly-grafieken · Boomtabel · IIS-auth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441448"/>
            <a:ext cx="1463040" cy="804672"/>
          </a:xfrm>
          <a:prstGeom prst="rect">
            <a:avLst/>
          </a:prstGeom>
          <a:solidFill>
            <a:srgbClr val="145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20040" y="2642616"/>
            <a:ext cx="1463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Nov–Dec 2025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20240" y="2752344"/>
            <a:ext cx="9948672" cy="36576"/>
          </a:xfrm>
          <a:prstGeom prst="rect">
            <a:avLst/>
          </a:prstGeom>
          <a:solidFill>
            <a:srgbClr val="145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920240" y="2441448"/>
            <a:ext cx="9948672" cy="804672"/>
          </a:xfrm>
          <a:prstGeom prst="rect">
            <a:avLst/>
          </a:prstGeom>
          <a:solidFill>
            <a:srgbClr val="0D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057400" y="2459736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45A8A"/>
                </a:solidFill>
              </a:rPr>
              <a:t>Fase 2 — Interlock-engine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2825496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8E8"/>
                </a:solidFill>
              </a:rPr>
              <a:t>SQLAlchemy ORM · Recursieve SQL-ketentracer · PDF-export · Opnames · MailService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3374136"/>
            <a:ext cx="1463040" cy="804672"/>
          </a:xfrm>
          <a:prstGeom prst="rect">
            <a:avLst/>
          </a:prstGeom>
          <a:solidFill>
            <a:srgbClr val="276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20040" y="3575304"/>
            <a:ext cx="1463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Feb 2026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920240" y="3685032"/>
            <a:ext cx="9948672" cy="36576"/>
          </a:xfrm>
          <a:prstGeom prst="rect">
            <a:avLst/>
          </a:prstGeom>
          <a:solidFill>
            <a:srgbClr val="276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920240" y="3374136"/>
            <a:ext cx="9948672" cy="804672"/>
          </a:xfrm>
          <a:prstGeom prst="rect">
            <a:avLst/>
          </a:prstGeom>
          <a:solidFill>
            <a:srgbClr val="0D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057400" y="3392424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76E48"/>
                </a:solidFill>
              </a:rPr>
              <a:t>Fase 3 — Stabiliteit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57400" y="3758184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8E8"/>
                </a:solidFill>
              </a:rPr>
              <a:t>InterlockService hernoemd · SQL-views · Migratievalidatiegereedschappen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4306824"/>
            <a:ext cx="1463040" cy="804672"/>
          </a:xfrm>
          <a:prstGeom prst="rect">
            <a:avLst/>
          </a:prstGeom>
          <a:solidFill>
            <a:srgbClr val="7D3C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20040" y="4507992"/>
            <a:ext cx="1463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Apr 2026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20240" y="4617720"/>
            <a:ext cx="9948672" cy="36576"/>
          </a:xfrm>
          <a:prstGeom prst="rect">
            <a:avLst/>
          </a:prstGeom>
          <a:solidFill>
            <a:srgbClr val="7D3C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1920240" y="4306824"/>
            <a:ext cx="9948672" cy="804672"/>
          </a:xfrm>
          <a:prstGeom prst="rect">
            <a:avLst/>
          </a:prstGeom>
          <a:solidFill>
            <a:srgbClr val="0D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057400" y="4325112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D3C98"/>
                </a:solidFill>
              </a:rPr>
              <a:t>Fase 4 — Dashboard &amp; Prestaties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57400" y="4690872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8E8"/>
                </a:solidFill>
              </a:rPr>
              <a:t>6-grafiekendashboard · DiagramPdfService · Referentiedatumkiezer · 8 s → &lt; 1 s querytijd · DB-indexen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5239512"/>
            <a:ext cx="1463040" cy="804672"/>
          </a:xfrm>
          <a:prstGeom prst="rect">
            <a:avLst/>
          </a:prstGeom>
          <a:solidFill>
            <a:srgbClr val="6B7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20040" y="5440680"/>
            <a:ext cx="1463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Mei 2026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920240" y="5550408"/>
            <a:ext cx="9948672" cy="36576"/>
          </a:xfrm>
          <a:prstGeom prst="rect">
            <a:avLst/>
          </a:prstGeom>
          <a:solidFill>
            <a:srgbClr val="6B7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1920240" y="5239512"/>
            <a:ext cx="9948672" cy="804672"/>
          </a:xfrm>
          <a:prstGeom prst="rect">
            <a:avLst/>
          </a:prstGeom>
          <a:solidFill>
            <a:srgbClr val="0D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057400" y="525780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B7A99"/>
                </a:solidFill>
              </a:rPr>
              <a:t>Nu — Afwerking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57400" y="5623560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8E8"/>
                </a:solidFill>
              </a:rPr>
              <a:t>Taartdiagram op startpagina · Subtree-toggle refactor · PDF null-fix · Documentatie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Wat Staat Er Nog Te Doen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601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D0D8E8"/>
                </a:solidFill>
              </a:rPr>
              <a:t>Weg naar MVP — 11 juni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508760"/>
            <a:ext cx="5760720" cy="3657600"/>
          </a:xfrm>
          <a:prstGeom prst="rect">
            <a:avLst/>
          </a:prstGeom>
          <a:solidFill>
            <a:srgbClr val="0D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508760"/>
            <a:ext cx="5760720" cy="41148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5270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Vóór MVP (11 juni)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011680"/>
            <a:ext cx="53949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700"/>
              </a:spcBef>
            </a:pPr>
            <a:r>
              <a:rPr sz="1300" b="0" i="0">
                <a:solidFill>
                  <a:srgbClr val="D0D8E8"/>
                </a:solidFill>
              </a:rPr>
              <a:t>›  Dagelijkse opnames inplannen (Windows Taakplanner / IIS)</a:t>
            </a:r>
          </a:p>
          <a:p>
            <a:pPr algn="l">
              <a:spcBef>
                <a:spcPts val="700"/>
              </a:spcBef>
            </a:pPr>
            <a:r>
              <a:rPr sz="1300" b="0" i="0">
                <a:solidFill>
                  <a:srgbClr val="D0D8E8"/>
                </a:solidFill>
              </a:rPr>
              <a:t>›  MailService koppelen aan geautomatiseerde wekelijkse PDF-e-mail</a:t>
            </a:r>
          </a:p>
          <a:p>
            <a:pPr algn="l">
              <a:spcBef>
                <a:spcPts val="700"/>
              </a:spcBef>
            </a:pPr>
            <a:r>
              <a:rPr sz="1300" b="0" i="0">
                <a:solidFill>
                  <a:srgbClr val="D0D8E8"/>
                </a:solidFill>
              </a:rPr>
              <a:t>›  Definitieve IIS-implementatie op productieserver</a:t>
            </a:r>
          </a:p>
          <a:p>
            <a:pPr algn="l">
              <a:spcBef>
                <a:spcPts val="700"/>
              </a:spcBef>
            </a:pPr>
            <a:r>
              <a:rPr sz="1300" b="0" i="0">
                <a:solidFill>
                  <a:srgbClr val="D0D8E8"/>
                </a:solidFill>
              </a:rPr>
              <a:t>›  Gebruikersacceptatietest met ArcelorMittal-ingenieurs</a:t>
            </a:r>
          </a:p>
          <a:p>
            <a:pPr algn="l">
              <a:spcBef>
                <a:spcPts val="700"/>
              </a:spcBef>
            </a:pPr>
            <a:r>
              <a:rPr sz="1300" b="0" i="0">
                <a:solidFill>
                  <a:srgbClr val="D0D8E8"/>
                </a:solidFill>
              </a:rPr>
              <a:t>›  Over- en contactpagina's met echte contactgegevens</a:t>
            </a:r>
          </a:p>
          <a:p>
            <a:pPr algn="l">
              <a:spcBef>
                <a:spcPts val="700"/>
              </a:spcBef>
            </a:pPr>
            <a:r>
              <a:rPr sz="1300" b="0" i="0">
                <a:solidFill>
                  <a:srgbClr val="D0D8E8"/>
                </a:solidFill>
              </a:rPr>
              <a:t>›  End-to-end testdoorgang: alle pagina's, filters, PDF-downloads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508760"/>
            <a:ext cx="5605272" cy="3657600"/>
          </a:xfrm>
          <a:prstGeom prst="rect">
            <a:avLst/>
          </a:prstGeom>
          <a:solidFill>
            <a:srgbClr val="0D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63640" y="1508760"/>
            <a:ext cx="5605272" cy="411480"/>
          </a:xfrm>
          <a:prstGeom prst="rect">
            <a:avLst/>
          </a:prstGeom>
          <a:solidFill>
            <a:srgbClr val="145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0" y="152704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Post-MVP-ambities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011680"/>
            <a:ext cx="5212080" cy="2687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algn="l">
              <a:spcBef>
                <a:spcPts val="700"/>
              </a:spcBef>
            </a:pPr>
            <a:r>
              <a:rPr sz="1300" b="0" i="0" dirty="0">
                <a:solidFill>
                  <a:srgbClr val="D0D8E8"/>
                </a:solidFill>
              </a:rPr>
              <a:t>›  </a:t>
            </a:r>
            <a:r>
              <a:rPr sz="1300" b="0" i="0" dirty="0" err="1">
                <a:solidFill>
                  <a:srgbClr val="D0D8E8"/>
                </a:solidFill>
              </a:rPr>
              <a:t>Rolgebaseerde</a:t>
            </a:r>
            <a:r>
              <a:rPr sz="1300" b="0" i="0" dirty="0">
                <a:solidFill>
                  <a:srgbClr val="D0D8E8"/>
                </a:solidFill>
              </a:rPr>
              <a:t> </a:t>
            </a:r>
            <a:r>
              <a:rPr sz="1300" b="0" i="0" dirty="0" err="1">
                <a:solidFill>
                  <a:srgbClr val="D0D8E8"/>
                </a:solidFill>
              </a:rPr>
              <a:t>toegang</a:t>
            </a:r>
            <a:r>
              <a:rPr sz="1300" b="0" i="0" dirty="0">
                <a:solidFill>
                  <a:srgbClr val="D0D8E8"/>
                </a:solidFill>
              </a:rPr>
              <a:t>: </a:t>
            </a:r>
            <a:r>
              <a:rPr sz="1300" b="0" i="0" dirty="0" err="1">
                <a:solidFill>
                  <a:srgbClr val="D0D8E8"/>
                </a:solidFill>
              </a:rPr>
              <a:t>alleen-lezen</a:t>
            </a:r>
            <a:r>
              <a:rPr sz="1300" b="0" i="0" dirty="0">
                <a:solidFill>
                  <a:srgbClr val="D0D8E8"/>
                </a:solidFill>
              </a:rPr>
              <a:t> vs. </a:t>
            </a:r>
            <a:r>
              <a:rPr sz="1300" b="0" i="0" dirty="0" err="1">
                <a:solidFill>
                  <a:srgbClr val="D0D8E8"/>
                </a:solidFill>
              </a:rPr>
              <a:t>beheerder</a:t>
            </a:r>
            <a:endParaRPr sz="1300" b="0" i="0" dirty="0">
              <a:solidFill>
                <a:srgbClr val="D0D8E8"/>
              </a:solidFill>
            </a:endParaRPr>
          </a:p>
          <a:p>
            <a:pPr algn="l">
              <a:spcBef>
                <a:spcPts val="700"/>
              </a:spcBef>
            </a:pPr>
            <a:r>
              <a:rPr sz="1300" b="0" i="0" dirty="0">
                <a:solidFill>
                  <a:srgbClr val="D0D8E8"/>
                </a:solidFill>
              </a:rPr>
              <a:t>›  </a:t>
            </a:r>
            <a:r>
              <a:rPr sz="1300" b="0" i="0" dirty="0" err="1">
                <a:solidFill>
                  <a:srgbClr val="D0D8E8"/>
                </a:solidFill>
              </a:rPr>
              <a:t>Configureerbare</a:t>
            </a:r>
            <a:r>
              <a:rPr sz="1300" b="0" i="0" dirty="0">
                <a:solidFill>
                  <a:srgbClr val="D0D8E8"/>
                </a:solidFill>
              </a:rPr>
              <a:t> </a:t>
            </a:r>
            <a:r>
              <a:rPr sz="1300" b="0" i="0" dirty="0" err="1">
                <a:solidFill>
                  <a:srgbClr val="D0D8E8"/>
                </a:solidFill>
              </a:rPr>
              <a:t>drempelwaarden</a:t>
            </a:r>
            <a:r>
              <a:rPr sz="1300" b="0" i="0" dirty="0">
                <a:solidFill>
                  <a:srgbClr val="D0D8E8"/>
                </a:solidFill>
              </a:rPr>
              <a:t> met e-mail-/Teams-</a:t>
            </a:r>
            <a:r>
              <a:rPr sz="1300" b="0" i="0" dirty="0" err="1">
                <a:solidFill>
                  <a:srgbClr val="D0D8E8"/>
                </a:solidFill>
              </a:rPr>
              <a:t>meldingen</a:t>
            </a:r>
            <a:endParaRPr sz="1300" b="0" i="0" dirty="0">
              <a:solidFill>
                <a:srgbClr val="D0D8E8"/>
              </a:solidFill>
            </a:endParaRPr>
          </a:p>
          <a:p>
            <a:pPr algn="l">
              <a:spcBef>
                <a:spcPts val="700"/>
              </a:spcBef>
            </a:pPr>
            <a:r>
              <a:rPr sz="1300" b="0" i="0" dirty="0">
                <a:solidFill>
                  <a:srgbClr val="D0D8E8"/>
                </a:solidFill>
              </a:rPr>
              <a:t>›  </a:t>
            </a:r>
            <a:r>
              <a:rPr sz="1300" b="0" i="0" dirty="0" err="1">
                <a:solidFill>
                  <a:srgbClr val="D0D8E8"/>
                </a:solidFill>
              </a:rPr>
              <a:t>Uitgebreide</a:t>
            </a:r>
            <a:r>
              <a:rPr sz="1300" b="0" i="0" dirty="0">
                <a:solidFill>
                  <a:srgbClr val="D0D8E8"/>
                </a:solidFill>
              </a:rPr>
              <a:t> heatmap: </a:t>
            </a:r>
            <a:r>
              <a:rPr sz="1300" b="0" i="0" dirty="0" err="1">
                <a:solidFill>
                  <a:srgbClr val="D0D8E8"/>
                </a:solidFill>
              </a:rPr>
              <a:t>inzoomen</a:t>
            </a:r>
            <a:r>
              <a:rPr sz="1300" b="0" i="0" dirty="0">
                <a:solidFill>
                  <a:srgbClr val="D0D8E8"/>
                </a:solidFill>
              </a:rPr>
              <a:t> op </a:t>
            </a:r>
            <a:r>
              <a:rPr sz="1300" b="0" i="0" dirty="0" err="1">
                <a:solidFill>
                  <a:srgbClr val="D0D8E8"/>
                </a:solidFill>
              </a:rPr>
              <a:t>individuele</a:t>
            </a:r>
            <a:r>
              <a:rPr sz="1300" b="0" i="0" dirty="0">
                <a:solidFill>
                  <a:srgbClr val="D0D8E8"/>
                </a:solidFill>
              </a:rPr>
              <a:t> </a:t>
            </a:r>
            <a:r>
              <a:rPr sz="1300" b="0" i="0" dirty="0" err="1">
                <a:solidFill>
                  <a:srgbClr val="D0D8E8"/>
                </a:solidFill>
              </a:rPr>
              <a:t>foutcodes</a:t>
            </a:r>
            <a:endParaRPr sz="1300" b="0" i="0" dirty="0">
              <a:solidFill>
                <a:srgbClr val="D0D8E8"/>
              </a:solidFill>
            </a:endParaRPr>
          </a:p>
          <a:p>
            <a:pPr algn="l">
              <a:spcBef>
                <a:spcPts val="700"/>
              </a:spcBef>
            </a:pPr>
            <a:r>
              <a:rPr sz="1300" b="0" i="0" dirty="0">
                <a:solidFill>
                  <a:srgbClr val="D0D8E8"/>
                </a:solidFill>
              </a:rPr>
              <a:t>›  ML-</a:t>
            </a:r>
            <a:r>
              <a:rPr sz="1300" b="0" i="0" dirty="0" err="1">
                <a:solidFill>
                  <a:srgbClr val="D0D8E8"/>
                </a:solidFill>
              </a:rPr>
              <a:t>foutvoorspelling</a:t>
            </a:r>
            <a:r>
              <a:rPr sz="1300" b="0" i="0" dirty="0">
                <a:solidFill>
                  <a:srgbClr val="D0D8E8"/>
                </a:solidFill>
              </a:rPr>
              <a:t> </a:t>
            </a:r>
            <a:r>
              <a:rPr sz="1300" b="0" i="0" dirty="0" err="1">
                <a:solidFill>
                  <a:srgbClr val="D0D8E8"/>
                </a:solidFill>
              </a:rPr>
              <a:t>naar</a:t>
            </a:r>
            <a:r>
              <a:rPr sz="1300" b="0" i="0" dirty="0">
                <a:solidFill>
                  <a:srgbClr val="D0D8E8"/>
                </a:solidFill>
              </a:rPr>
              <a:t> </a:t>
            </a:r>
            <a:r>
              <a:rPr sz="1300" b="0" i="0" dirty="0" err="1">
                <a:solidFill>
                  <a:srgbClr val="D0D8E8"/>
                </a:solidFill>
              </a:rPr>
              <a:t>productie</a:t>
            </a:r>
            <a:r>
              <a:rPr sz="1300" b="0" i="0" dirty="0">
                <a:solidFill>
                  <a:srgbClr val="D0D8E8"/>
                </a:solidFill>
              </a:rPr>
              <a:t> </a:t>
            </a:r>
            <a:r>
              <a:rPr sz="1300" b="0" i="0" dirty="0" err="1">
                <a:solidFill>
                  <a:srgbClr val="D0D8E8"/>
                </a:solidFill>
              </a:rPr>
              <a:t>brengen</a:t>
            </a:r>
            <a:endParaRPr sz="1300" b="0" i="0" dirty="0">
              <a:solidFill>
                <a:srgbClr val="D0D8E8"/>
              </a:solidFill>
            </a:endParaRPr>
          </a:p>
          <a:p>
            <a:pPr algn="l">
              <a:spcBef>
                <a:spcPts val="700"/>
              </a:spcBef>
            </a:pPr>
            <a:r>
              <a:rPr sz="1300" b="0" i="0" dirty="0">
                <a:solidFill>
                  <a:srgbClr val="D0D8E8"/>
                </a:solidFill>
              </a:rPr>
              <a:t>›  </a:t>
            </a:r>
            <a:r>
              <a:rPr sz="1300" b="0" i="0" dirty="0" err="1">
                <a:solidFill>
                  <a:srgbClr val="D0D8E8"/>
                </a:solidFill>
              </a:rPr>
              <a:t>Ondersteuning</a:t>
            </a:r>
            <a:r>
              <a:rPr sz="1300" b="0" i="0" dirty="0">
                <a:solidFill>
                  <a:srgbClr val="D0D8E8"/>
                </a:solidFill>
              </a:rPr>
              <a:t> </a:t>
            </a:r>
            <a:r>
              <a:rPr sz="1300" b="0" i="0" dirty="0" err="1">
                <a:solidFill>
                  <a:srgbClr val="D0D8E8"/>
                </a:solidFill>
              </a:rPr>
              <a:t>voor</a:t>
            </a:r>
            <a:r>
              <a:rPr sz="1300" b="0" i="0" dirty="0">
                <a:solidFill>
                  <a:srgbClr val="D0D8E8"/>
                </a:solidFill>
              </a:rPr>
              <a:t> </a:t>
            </a:r>
            <a:r>
              <a:rPr sz="1300" b="0" i="0" dirty="0" err="1">
                <a:solidFill>
                  <a:srgbClr val="D0D8E8"/>
                </a:solidFill>
              </a:rPr>
              <a:t>meerdere</a:t>
            </a:r>
            <a:r>
              <a:rPr sz="1300" b="0" i="0" dirty="0">
                <a:solidFill>
                  <a:srgbClr val="D0D8E8"/>
                </a:solidFill>
              </a:rPr>
              <a:t> </a:t>
            </a:r>
            <a:r>
              <a:rPr sz="1300" b="0" i="0" dirty="0" err="1">
                <a:solidFill>
                  <a:srgbClr val="D0D8E8"/>
                </a:solidFill>
              </a:rPr>
              <a:t>locaties</a:t>
            </a:r>
            <a:r>
              <a:rPr sz="1300" b="0" i="0" dirty="0">
                <a:solidFill>
                  <a:srgbClr val="D0D8E8"/>
                </a:solidFill>
              </a:rPr>
              <a:t> (</a:t>
            </a:r>
            <a:r>
              <a:rPr sz="1300" b="0" i="0" dirty="0" err="1">
                <a:solidFill>
                  <a:srgbClr val="D0D8E8"/>
                </a:solidFill>
              </a:rPr>
              <a:t>meerdere</a:t>
            </a:r>
            <a:r>
              <a:rPr sz="1300" b="0" i="0" dirty="0">
                <a:solidFill>
                  <a:srgbClr val="D0D8E8"/>
                </a:solidFill>
              </a:rPr>
              <a:t> CIMPLICITY-</a:t>
            </a:r>
            <a:r>
              <a:rPr sz="1300" b="0" i="0" dirty="0" err="1">
                <a:solidFill>
                  <a:srgbClr val="D0D8E8"/>
                </a:solidFill>
              </a:rPr>
              <a:t>instanties</a:t>
            </a:r>
            <a:r>
              <a:rPr sz="1300" b="0" i="0" dirty="0">
                <a:solidFill>
                  <a:srgbClr val="D0D8E8"/>
                </a:solidFill>
              </a:rPr>
              <a:t>)</a:t>
            </a:r>
          </a:p>
          <a:p>
            <a:pPr algn="l">
              <a:spcBef>
                <a:spcPts val="700"/>
              </a:spcBef>
            </a:pPr>
            <a:r>
              <a:rPr sz="1300" b="0" i="0" dirty="0">
                <a:solidFill>
                  <a:srgbClr val="D0D8E8"/>
                </a:solidFill>
              </a:rPr>
              <a:t>›  REST API </a:t>
            </a:r>
            <a:r>
              <a:rPr sz="1300" b="0" i="0" dirty="0" err="1">
                <a:solidFill>
                  <a:srgbClr val="D0D8E8"/>
                </a:solidFill>
              </a:rPr>
              <a:t>zodat</a:t>
            </a:r>
            <a:r>
              <a:rPr sz="1300" b="0" i="0" dirty="0">
                <a:solidFill>
                  <a:srgbClr val="D0D8E8"/>
                </a:solidFill>
              </a:rPr>
              <a:t> </a:t>
            </a:r>
            <a:r>
              <a:rPr sz="1300" b="0" i="0" dirty="0" err="1">
                <a:solidFill>
                  <a:srgbClr val="D0D8E8"/>
                </a:solidFill>
              </a:rPr>
              <a:t>andere</a:t>
            </a:r>
            <a:r>
              <a:rPr sz="1300" b="0" i="0" dirty="0">
                <a:solidFill>
                  <a:srgbClr val="D0D8E8"/>
                </a:solidFill>
              </a:rPr>
              <a:t> tools </a:t>
            </a:r>
            <a:r>
              <a:rPr sz="1300" b="0" i="0" dirty="0" err="1">
                <a:solidFill>
                  <a:srgbClr val="D0D8E8"/>
                </a:solidFill>
              </a:rPr>
              <a:t>fouttrends</a:t>
            </a:r>
            <a:r>
              <a:rPr sz="1300" b="0" i="0" dirty="0">
                <a:solidFill>
                  <a:srgbClr val="D0D8E8"/>
                </a:solidFill>
              </a:rPr>
              <a:t> </a:t>
            </a:r>
            <a:r>
              <a:rPr sz="1300" b="0" i="0" dirty="0" err="1">
                <a:solidFill>
                  <a:srgbClr val="D0D8E8"/>
                </a:solidFill>
              </a:rPr>
              <a:t>kunnen</a:t>
            </a:r>
            <a:r>
              <a:rPr sz="1300" b="0" i="0" dirty="0">
                <a:solidFill>
                  <a:srgbClr val="D0D8E8"/>
                </a:solidFill>
              </a:rPr>
              <a:t> </a:t>
            </a:r>
            <a:r>
              <a:rPr sz="1300" b="0" i="0" dirty="0" err="1">
                <a:solidFill>
                  <a:srgbClr val="D0D8E8"/>
                </a:solidFill>
              </a:rPr>
              <a:t>opvragen</a:t>
            </a:r>
            <a:endParaRPr lang="nl-BE" sz="1300" dirty="0">
              <a:solidFill>
                <a:srgbClr val="D0D8E8"/>
              </a:solidFill>
            </a:endParaRPr>
          </a:p>
          <a:p>
            <a:pPr>
              <a:spcBef>
                <a:spcPts val="700"/>
              </a:spcBef>
            </a:pPr>
            <a:r>
              <a:rPr lang="nl-BE" sz="1300">
                <a:solidFill>
                  <a:srgbClr val="D0D8E8"/>
                </a:solidFill>
              </a:rPr>
              <a:t>›  Onnodige fout selecties met de klant bekijken.</a:t>
            </a:r>
            <a:endParaRPr lang="nl-BE" sz="1300" dirty="0">
              <a:solidFill>
                <a:srgbClr val="D0D8E8"/>
              </a:solidFill>
            </a:endParaRPr>
          </a:p>
          <a:p>
            <a:pPr algn="l">
              <a:spcBef>
                <a:spcPts val="700"/>
              </a:spcBef>
            </a:pPr>
            <a:endParaRPr lang="nl-BE" sz="1300" b="0" i="0" dirty="0">
              <a:solidFill>
                <a:srgbClr val="D0D8E8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20040" y="5349240"/>
            <a:ext cx="11548872" cy="1188720"/>
          </a:xfrm>
          <a:prstGeom prst="rect">
            <a:avLst/>
          </a:prstGeom>
          <a:solidFill>
            <a:srgbClr val="0D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20040" y="5349240"/>
            <a:ext cx="11548872" cy="54864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55778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Bedankt voor uw aandacht — vragen zijn welkom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12648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6B7A99"/>
                </a:solidFill>
              </a:rPr>
              <a:t>Benoit Goethals · Tom Van de Vyver  |  ArcelorMittal  ·  2025–2026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998</Words>
  <Application>Microsoft Macintosh PowerPoint</Application>
  <PresentationFormat>Aangepast</PresentationFormat>
  <Paragraphs>186</Paragraphs>
  <Slides>10</Slides>
  <Notes>1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10</vt:i4>
      </vt:variant>
    </vt:vector>
  </HeadingPairs>
  <TitlesOfParts>
    <vt:vector size="14" baseType="lpstr">
      <vt:lpstr>Aptos</vt:lpstr>
      <vt:lpstr>Arial</vt:lpstr>
      <vt:lpstr>Calibri</vt:lpstr>
      <vt:lpstr>Office Theme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Van De Vyver, Tom</cp:lastModifiedBy>
  <cp:revision>2</cp:revision>
  <dcterms:created xsi:type="dcterms:W3CDTF">2013-01-27T09:14:16Z</dcterms:created>
  <dcterms:modified xsi:type="dcterms:W3CDTF">2026-05-30T09:11:24Z</dcterms:modified>
  <cp:category/>
</cp:coreProperties>
</file>