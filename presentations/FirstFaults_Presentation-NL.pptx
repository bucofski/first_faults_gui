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3"/>
    <p:restoredTop sz="94631"/>
  </p:normalViewPr>
  <p:slideViewPr>
    <p:cSldViewPr snapToGrid="0" snapToObjects="1">
      <p:cViewPr varScale="1">
        <p:scale>
          <a:sx n="149" d="100"/>
          <a:sy n="149" d="100"/>
        </p:scale>
        <p:origin x="48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21488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391" y="5074920"/>
            <a:ext cx="1588168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6B1A"/>
                </a:solidFill>
              </a:rPr>
              <a:t>FIRST FAULTS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0D8E8"/>
                </a:solidFill>
              </a:rPr>
              <a:t>Platform voor historische alarmanalyse &amp; rapportering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Benoit Goethals  ·  Tom Van de Vyver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A99"/>
                </a:solidFill>
              </a:rPr>
              <a:t>ArcelorMittal  ·  2025 –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99"/>
                </a:solidFill>
              </a:rPr>
              <a:t>Projectpresentatie van 10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Wat we behandelen in 10 minuten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01  </a:t>
            </a:r>
            <a:r>
              <a:rPr sz="1700">
                <a:solidFill>
                  <a:srgbClr val="FFFFFF"/>
                </a:solidFill>
              </a:rPr>
              <a:t>Projectbeschrijving &amp; probleemstelling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02  </a:t>
            </a:r>
            <a:r>
              <a:rPr sz="1700">
                <a:solidFill>
                  <a:srgbClr val="FFFFFF"/>
                </a:solidFill>
              </a:rPr>
              <a:t>Doelen &amp; succescriteria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03  </a:t>
            </a:r>
            <a:r>
              <a:rPr sz="1700">
                <a:solidFill>
                  <a:srgbClr val="FFFFFF"/>
                </a:solidFill>
              </a:rPr>
              <a:t>Team &amp; verantwoordelijkheden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04  </a:t>
            </a:r>
            <a:r>
              <a:rPr sz="1700">
                <a:solidFill>
                  <a:srgbClr val="FFFFFF"/>
                </a:solidFill>
              </a:rPr>
              <a:t>Werkwijze &amp; methodologie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05  </a:t>
            </a:r>
            <a:r>
              <a:rPr sz="1700">
                <a:solidFill>
                  <a:srgbClr val="FFFFFF"/>
                </a:solidFill>
              </a:rPr>
              <a:t>Architectuur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06  </a:t>
            </a:r>
            <a:r>
              <a:rPr sz="1700">
                <a:solidFill>
                  <a:srgbClr val="FFFFFF"/>
                </a:solidFill>
              </a:rPr>
              <a:t>Overzicht van kernfunctionaliteiten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07  </a:t>
            </a:r>
            <a:r>
              <a:rPr sz="1700">
                <a:solidFill>
                  <a:srgbClr val="FFFFFF"/>
                </a:solidFill>
              </a:rPr>
              <a:t>Voortgangstijdlijn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6B1A"/>
                </a:solidFill>
              </a:rPr>
              <a:t>  08  </a:t>
            </a:r>
            <a:r>
              <a:rPr sz="1700">
                <a:solidFill>
                  <a:srgbClr val="FFFFFF"/>
                </a:solidFill>
              </a:rPr>
              <a:t>Wat komt er nog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Projectbeschrijving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Welk probleem lossen we op?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39496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508760"/>
            <a:ext cx="5879592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Het probleem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CIMPLICITY </a:t>
            </a:r>
            <a:r>
              <a:rPr sz="1400" b="0" i="0" dirty="0" err="1">
                <a:solidFill>
                  <a:srgbClr val="D0D8E8"/>
                </a:solidFill>
              </a:rPr>
              <a:t>logt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duizenden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alarmen</a:t>
            </a:r>
            <a:r>
              <a:rPr sz="1400" b="0" i="0" dirty="0">
                <a:solidFill>
                  <a:srgbClr val="D0D8E8"/>
                </a:solidFill>
              </a:rPr>
              <a:t> per </a:t>
            </a:r>
            <a:r>
              <a:rPr sz="1400" b="0" i="0" dirty="0" err="1">
                <a:solidFill>
                  <a:srgbClr val="D0D8E8"/>
                </a:solidFill>
              </a:rPr>
              <a:t>dag</a:t>
            </a:r>
            <a:r>
              <a:rPr sz="1400" b="0" i="0" dirty="0">
                <a:solidFill>
                  <a:srgbClr val="D0D8E8"/>
                </a:solidFill>
              </a:rPr>
              <a:t> op de ArcelorMittal-</a:t>
            </a:r>
            <a:r>
              <a:rPr sz="1400" b="0" i="0" dirty="0" err="1">
                <a:solidFill>
                  <a:srgbClr val="D0D8E8"/>
                </a:solidFill>
              </a:rPr>
              <a:t>productielijn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</a:t>
            </a:r>
            <a:r>
              <a:rPr sz="1400" b="0" i="0" dirty="0" err="1">
                <a:solidFill>
                  <a:srgbClr val="D0D8E8"/>
                </a:solidFill>
              </a:rPr>
              <a:t>Bestaande</a:t>
            </a:r>
            <a:r>
              <a:rPr sz="1400" b="0" i="0" dirty="0">
                <a:solidFill>
                  <a:srgbClr val="D0D8E8"/>
                </a:solidFill>
              </a:rPr>
              <a:t> tools </a:t>
            </a:r>
            <a:r>
              <a:rPr sz="1400" b="0" i="0" dirty="0" err="1">
                <a:solidFill>
                  <a:srgbClr val="D0D8E8"/>
                </a:solidFill>
              </a:rPr>
              <a:t>tonen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enkel</a:t>
            </a:r>
            <a:r>
              <a:rPr sz="1400" b="0" i="0" dirty="0">
                <a:solidFill>
                  <a:srgbClr val="D0D8E8"/>
                </a:solidFill>
              </a:rPr>
              <a:t> real-time </a:t>
            </a:r>
            <a:r>
              <a:rPr sz="1400" b="0" i="0" dirty="0" err="1">
                <a:solidFill>
                  <a:srgbClr val="D0D8E8"/>
                </a:solidFill>
              </a:rPr>
              <a:t>alarmen</a:t>
            </a:r>
            <a:r>
              <a:rPr sz="1400" b="0" i="0" dirty="0">
                <a:solidFill>
                  <a:srgbClr val="D0D8E8"/>
                </a:solidFill>
              </a:rPr>
              <a:t> — </a:t>
            </a:r>
            <a:r>
              <a:rPr sz="1400" b="0" i="0" dirty="0" err="1">
                <a:solidFill>
                  <a:srgbClr val="D0D8E8"/>
                </a:solidFill>
              </a:rPr>
              <a:t>geen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historische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analyse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</a:t>
            </a:r>
            <a:r>
              <a:rPr sz="1400" b="0" i="0" dirty="0" err="1">
                <a:solidFill>
                  <a:srgbClr val="D0D8E8"/>
                </a:solidFill>
              </a:rPr>
              <a:t>Technici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zien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niet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eenvoudig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welke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storingen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toenemen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De </a:t>
            </a:r>
            <a:r>
              <a:rPr sz="1400" b="0" i="0" dirty="0" err="1">
                <a:solidFill>
                  <a:srgbClr val="D0D8E8"/>
                </a:solidFill>
              </a:rPr>
              <a:t>grondoorzaak</a:t>
            </a:r>
            <a:r>
              <a:rPr sz="1400" b="0" i="0" dirty="0">
                <a:solidFill>
                  <a:srgbClr val="D0D8E8"/>
                </a:solidFill>
              </a:rPr>
              <a:t> van interlock-</a:t>
            </a:r>
            <a:r>
              <a:rPr sz="1400" b="0" i="0" dirty="0" err="1">
                <a:solidFill>
                  <a:srgbClr val="D0D8E8"/>
                </a:solidFill>
              </a:rPr>
              <a:t>ketens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zoeken</a:t>
            </a:r>
            <a:r>
              <a:rPr sz="1400" b="0" i="0" dirty="0">
                <a:solidFill>
                  <a:srgbClr val="D0D8E8"/>
                </a:solidFill>
              </a:rPr>
              <a:t> is </a:t>
            </a:r>
            <a:r>
              <a:rPr sz="1400" b="0" i="0" dirty="0" err="1">
                <a:solidFill>
                  <a:srgbClr val="D0D8E8"/>
                </a:solidFill>
              </a:rPr>
              <a:t>manueel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tijdrovend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Geen </a:t>
            </a:r>
            <a:r>
              <a:rPr sz="1400" b="0" i="0" dirty="0" err="1">
                <a:solidFill>
                  <a:srgbClr val="D0D8E8"/>
                </a:solidFill>
              </a:rPr>
              <a:t>geautomatiseerde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rapportering</a:t>
            </a:r>
            <a:r>
              <a:rPr sz="1400" b="0" i="0" dirty="0">
                <a:solidFill>
                  <a:srgbClr val="D0D8E8"/>
                </a:solidFill>
              </a:rPr>
              <a:t> of PDF-export </a:t>
            </a:r>
            <a:r>
              <a:rPr sz="1400" b="0" i="0" dirty="0" err="1">
                <a:solidFill>
                  <a:srgbClr val="D0D8E8"/>
                </a:solidFill>
              </a:rPr>
              <a:t>voor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ploegoverdracht</a:t>
            </a:r>
            <a:endParaRPr sz="1400" b="0" i="0" dirty="0">
              <a:solidFill>
                <a:srgbClr val="D0D8E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8932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Onze oplossing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9659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Python/Flask-webapp via IIS — </a:t>
            </a:r>
            <a:r>
              <a:rPr sz="1400" b="0" i="0" dirty="0" err="1">
                <a:solidFill>
                  <a:srgbClr val="D0D8E8"/>
                </a:solidFill>
              </a:rPr>
              <a:t>geen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nieuwe</a:t>
            </a:r>
            <a:r>
              <a:rPr sz="1400" b="0" i="0" dirty="0">
                <a:solidFill>
                  <a:srgbClr val="D0D8E8"/>
                </a:solidFill>
              </a:rPr>
              <a:t> login </a:t>
            </a:r>
            <a:r>
              <a:rPr sz="1400" b="0" i="0" dirty="0" err="1">
                <a:solidFill>
                  <a:srgbClr val="D0D8E8"/>
                </a:solidFill>
              </a:rPr>
              <a:t>nodig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</a:t>
            </a:r>
            <a:r>
              <a:rPr sz="1400" b="0" i="0" dirty="0" err="1">
                <a:solidFill>
                  <a:srgbClr val="D0D8E8"/>
                </a:solidFill>
              </a:rPr>
              <a:t>Interactief</a:t>
            </a:r>
            <a:r>
              <a:rPr sz="1400" b="0" i="0" dirty="0">
                <a:solidFill>
                  <a:srgbClr val="D0D8E8"/>
                </a:solidFill>
              </a:rPr>
              <a:t> dashboard: 6 </a:t>
            </a:r>
            <a:r>
              <a:rPr sz="1400" b="0" i="0" dirty="0" err="1">
                <a:solidFill>
                  <a:srgbClr val="D0D8E8"/>
                </a:solidFill>
              </a:rPr>
              <a:t>grafieken</a:t>
            </a:r>
            <a:r>
              <a:rPr sz="1400" b="0" i="0" dirty="0">
                <a:solidFill>
                  <a:srgbClr val="D0D8E8"/>
                </a:solidFill>
              </a:rPr>
              <a:t> + heatmap </a:t>
            </a:r>
            <a:r>
              <a:rPr sz="1400" b="0" i="0" dirty="0" err="1">
                <a:solidFill>
                  <a:srgbClr val="D0D8E8"/>
                </a:solidFill>
              </a:rPr>
              <a:t>uit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historische</a:t>
            </a:r>
            <a:r>
              <a:rPr sz="1400" b="0" i="0" dirty="0">
                <a:solidFill>
                  <a:srgbClr val="D0D8E8"/>
                </a:solidFill>
              </a:rPr>
              <a:t> SQL Server-data</a:t>
            </a: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</a:t>
            </a:r>
            <a:r>
              <a:rPr sz="1400" b="0" i="0" dirty="0" err="1">
                <a:solidFill>
                  <a:srgbClr val="D0D8E8"/>
                </a:solidFill>
              </a:rPr>
              <a:t>Recursieve</a:t>
            </a:r>
            <a:r>
              <a:rPr sz="1400" b="0" i="0" dirty="0">
                <a:solidFill>
                  <a:srgbClr val="D0D8E8"/>
                </a:solidFill>
              </a:rPr>
              <a:t> interlock-</a:t>
            </a:r>
            <a:r>
              <a:rPr sz="1400" b="0" i="0" dirty="0" err="1">
                <a:solidFill>
                  <a:srgbClr val="D0D8E8"/>
                </a:solidFill>
              </a:rPr>
              <a:t>ketentracer</a:t>
            </a:r>
            <a:r>
              <a:rPr sz="1400" b="0" i="0" dirty="0">
                <a:solidFill>
                  <a:srgbClr val="D0D8E8"/>
                </a:solidFill>
              </a:rPr>
              <a:t>: </a:t>
            </a:r>
            <a:r>
              <a:rPr sz="1400" b="0" i="0" dirty="0" err="1">
                <a:solidFill>
                  <a:srgbClr val="D0D8E8"/>
                </a:solidFill>
              </a:rPr>
              <a:t>vind</a:t>
            </a:r>
            <a:r>
              <a:rPr sz="1400" b="0" i="0" dirty="0">
                <a:solidFill>
                  <a:srgbClr val="D0D8E8"/>
                </a:solidFill>
              </a:rPr>
              <a:t> de </a:t>
            </a:r>
            <a:r>
              <a:rPr sz="1400" b="0" i="0" dirty="0" err="1">
                <a:solidFill>
                  <a:srgbClr val="D0D8E8"/>
                </a:solidFill>
              </a:rPr>
              <a:t>grondfout</a:t>
            </a:r>
            <a:r>
              <a:rPr sz="1400" b="0" i="0" dirty="0">
                <a:solidFill>
                  <a:srgbClr val="D0D8E8"/>
                </a:solidFill>
              </a:rPr>
              <a:t> in </a:t>
            </a:r>
            <a:r>
              <a:rPr sz="1400" b="0" i="0" dirty="0" err="1">
                <a:solidFill>
                  <a:srgbClr val="D0D8E8"/>
                </a:solidFill>
              </a:rPr>
              <a:t>seconden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</a:t>
            </a:r>
            <a:r>
              <a:rPr sz="1400" b="0" i="0" dirty="0" err="1">
                <a:solidFill>
                  <a:srgbClr val="D0D8E8"/>
                </a:solidFill>
              </a:rPr>
              <a:t>Wekelijkse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storingssnapshots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voor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langetermijntrend</a:t>
            </a:r>
            <a:r>
              <a:rPr sz="1400" b="0" i="0" dirty="0">
                <a:solidFill>
                  <a:srgbClr val="D0D8E8"/>
                </a:solidFill>
              </a:rPr>
              <a:t>- &amp; </a:t>
            </a:r>
            <a:r>
              <a:rPr sz="1400" b="0" i="0" dirty="0" err="1">
                <a:solidFill>
                  <a:srgbClr val="D0D8E8"/>
                </a:solidFill>
              </a:rPr>
              <a:t>regressiedetectie</a:t>
            </a:r>
            <a:endParaRPr sz="1400" b="0" i="0" dirty="0">
              <a:solidFill>
                <a:srgbClr val="D0D8E8"/>
              </a:solidFill>
            </a:endParaRP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PDF-export met </a:t>
            </a:r>
            <a:r>
              <a:rPr sz="1400" b="0" i="0" dirty="0" err="1">
                <a:solidFill>
                  <a:srgbClr val="D0D8E8"/>
                </a:solidFill>
              </a:rPr>
              <a:t>één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klik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voor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zowel</a:t>
            </a:r>
            <a:r>
              <a:rPr sz="1400" b="0" i="0" dirty="0">
                <a:solidFill>
                  <a:srgbClr val="D0D8E8"/>
                </a:solidFill>
              </a:rPr>
              <a:t> het dashboard </a:t>
            </a:r>
            <a:r>
              <a:rPr sz="1400" b="0" i="0" dirty="0" err="1">
                <a:solidFill>
                  <a:srgbClr val="D0D8E8"/>
                </a:solidFill>
              </a:rPr>
              <a:t>als</a:t>
            </a:r>
            <a:r>
              <a:rPr sz="1400" b="0" i="0" dirty="0">
                <a:solidFill>
                  <a:srgbClr val="D0D8E8"/>
                </a:solidFill>
              </a:rPr>
              <a:t> de interlock-boom</a:t>
            </a:r>
          </a:p>
          <a:p>
            <a:pPr algn="l">
              <a:spcBef>
                <a:spcPts val="800"/>
              </a:spcBef>
            </a:pPr>
            <a:r>
              <a:rPr sz="1400" b="0" i="0" dirty="0">
                <a:solidFill>
                  <a:srgbClr val="D0D8E8"/>
                </a:solidFill>
              </a:rPr>
              <a:t>›  Query's </a:t>
            </a:r>
            <a:r>
              <a:rPr sz="1400" b="0" i="0" dirty="0" err="1">
                <a:solidFill>
                  <a:srgbClr val="D0D8E8"/>
                </a:solidFill>
              </a:rPr>
              <a:t>onder</a:t>
            </a:r>
            <a:r>
              <a:rPr sz="1400" b="0" i="0" dirty="0">
                <a:solidFill>
                  <a:srgbClr val="D0D8E8"/>
                </a:solidFill>
              </a:rPr>
              <a:t> de </a:t>
            </a:r>
            <a:r>
              <a:rPr sz="1400" b="0" i="0" dirty="0" err="1">
                <a:solidFill>
                  <a:srgbClr val="D0D8E8"/>
                </a:solidFill>
              </a:rPr>
              <a:t>seconde</a:t>
            </a:r>
            <a:r>
              <a:rPr sz="1400" b="0" i="0" dirty="0">
                <a:solidFill>
                  <a:srgbClr val="D0D8E8"/>
                </a:solidFill>
              </a:rPr>
              <a:t> via </a:t>
            </a:r>
            <a:r>
              <a:rPr sz="1400" b="0" i="0" dirty="0" err="1">
                <a:solidFill>
                  <a:srgbClr val="D0D8E8"/>
                </a:solidFill>
              </a:rPr>
              <a:t>geoptimaliseerde</a:t>
            </a:r>
            <a:r>
              <a:rPr sz="1400" b="0" i="0" dirty="0">
                <a:solidFill>
                  <a:srgbClr val="D0D8E8"/>
                </a:solidFill>
              </a:rPr>
              <a:t> SQL Server-TVF's </a:t>
            </a:r>
            <a:r>
              <a:rPr sz="1400" b="0" i="0" dirty="0" err="1">
                <a:solidFill>
                  <a:srgbClr val="D0D8E8"/>
                </a:solidFill>
              </a:rPr>
              <a:t>en</a:t>
            </a:r>
            <a:r>
              <a:rPr sz="1400" b="0" i="0" dirty="0">
                <a:solidFill>
                  <a:srgbClr val="D0D8E8"/>
                </a:solidFill>
              </a:rPr>
              <a:t> </a:t>
            </a:r>
            <a:r>
              <a:rPr sz="1400" b="0" i="0" dirty="0" err="1">
                <a:solidFill>
                  <a:srgbClr val="D0D8E8"/>
                </a:solidFill>
              </a:rPr>
              <a:t>indexen</a:t>
            </a:r>
            <a:endParaRPr sz="1400" b="0" i="0" dirty="0">
              <a:solidFill>
                <a:srgbClr val="D0D8E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Waarom dit project?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De redenen achter First Faults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486400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755648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7922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1907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Database tegen zijn grenzen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121408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De bestaande database was niet performant genoeg — grotere tijdsbereiken opvragen was traag of leverde helemaal niets 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696712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28232" y="1755648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7922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19072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Geen tool voor technici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21408"/>
            <a:ext cx="4645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D0D8E8"/>
                </a:solidFill>
              </a:rPr>
              <a:t>Onderhoudstechnici</a:t>
            </a:r>
            <a:r>
              <a:rPr sz="1100" b="0" i="0" dirty="0">
                <a:solidFill>
                  <a:srgbClr val="D0D8E8"/>
                </a:solidFill>
              </a:rPr>
              <a:t> </a:t>
            </a:r>
            <a:r>
              <a:rPr sz="1100" b="0" i="0" dirty="0" err="1">
                <a:solidFill>
                  <a:srgbClr val="D0D8E8"/>
                </a:solidFill>
              </a:rPr>
              <a:t>hadden</a:t>
            </a:r>
            <a:r>
              <a:rPr sz="1100" b="0" i="0" dirty="0">
                <a:solidFill>
                  <a:srgbClr val="D0D8E8"/>
                </a:solidFill>
              </a:rPr>
              <a:t> </a:t>
            </a:r>
            <a:r>
              <a:rPr sz="1100" b="0" i="0" dirty="0" err="1">
                <a:solidFill>
                  <a:srgbClr val="D0D8E8"/>
                </a:solidFill>
              </a:rPr>
              <a:t>geen</a:t>
            </a:r>
            <a:r>
              <a:rPr sz="1100" b="0" i="0" dirty="0">
                <a:solidFill>
                  <a:srgbClr val="D0D8E8"/>
                </a:solidFill>
              </a:rPr>
              <a:t> eigen </a:t>
            </a:r>
            <a:r>
              <a:rPr sz="1100" b="0" i="0" dirty="0" err="1">
                <a:solidFill>
                  <a:srgbClr val="D0D8E8"/>
                </a:solidFill>
              </a:rPr>
              <a:t>applicatie</a:t>
            </a:r>
            <a:r>
              <a:rPr sz="1100" b="0" i="0" dirty="0">
                <a:solidFill>
                  <a:srgbClr val="D0D8E8"/>
                </a:solidFill>
              </a:rPr>
              <a:t> — </a:t>
            </a:r>
            <a:r>
              <a:rPr sz="1100" b="0" i="0" dirty="0" err="1">
                <a:solidFill>
                  <a:srgbClr val="D0D8E8"/>
                </a:solidFill>
              </a:rPr>
              <a:t>enkel</a:t>
            </a:r>
            <a:r>
              <a:rPr sz="1100" b="0" i="0" dirty="0">
                <a:solidFill>
                  <a:srgbClr val="D0D8E8"/>
                </a:solidFill>
              </a:rPr>
              <a:t> de </a:t>
            </a:r>
            <a:r>
              <a:rPr sz="1100" b="0" i="0" dirty="0" err="1">
                <a:solidFill>
                  <a:srgbClr val="D0D8E8"/>
                </a:solidFill>
              </a:rPr>
              <a:t>ruwe</a:t>
            </a:r>
            <a:r>
              <a:rPr sz="1100" b="0" i="0" dirty="0">
                <a:solidFill>
                  <a:srgbClr val="D0D8E8"/>
                </a:solidFill>
              </a:rPr>
              <a:t>, real-time CIMPLICITY-</a:t>
            </a:r>
            <a:r>
              <a:rPr sz="1100" b="0" i="0" dirty="0" err="1">
                <a:solidFill>
                  <a:srgbClr val="D0D8E8"/>
                </a:solidFill>
              </a:rPr>
              <a:t>alarmen</a:t>
            </a:r>
            <a:r>
              <a:rPr sz="1100" b="0" i="0" dirty="0">
                <a:solidFill>
                  <a:srgbClr val="D0D8E8"/>
                </a:solidFill>
              </a:rPr>
              <a:t> </a:t>
            </a:r>
            <a:r>
              <a:rPr sz="1100" b="0" i="0" dirty="0" err="1">
                <a:solidFill>
                  <a:srgbClr val="D0D8E8"/>
                </a:solidFill>
              </a:rPr>
              <a:t>zonder</a:t>
            </a:r>
            <a:r>
              <a:rPr sz="1100" b="0" i="0" dirty="0">
                <a:solidFill>
                  <a:srgbClr val="D0D8E8"/>
                </a:solidFill>
              </a:rPr>
              <a:t> </a:t>
            </a:r>
            <a:r>
              <a:rPr sz="1100" b="0" i="0" dirty="0" err="1">
                <a:solidFill>
                  <a:srgbClr val="D0D8E8"/>
                </a:solidFill>
              </a:rPr>
              <a:t>historiek</a:t>
            </a:r>
            <a:r>
              <a:rPr sz="1100" b="0" i="0" dirty="0">
                <a:solidFill>
                  <a:srgbClr val="D0D8E8"/>
                </a:solidFill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36392"/>
            <a:ext cx="5486400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136392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" y="3337560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337413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330098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Storingen zoeken was moeilijk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70332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Een stilstand herleiden tot de eerste fout doorheen geneste interlock-ketens was manueel, traag en foutgevoelig.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136392"/>
            <a:ext cx="5696712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136392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28232" y="3337560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37413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300984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Geen analyse van lijnfouten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03320"/>
            <a:ext cx="4645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Er was geen manier om lijnfouten over tijd te analyseren — geen trends, geen top-stijgers, geen week-op-week-vergelijking.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18304"/>
            <a:ext cx="5486400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4718304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" y="4919472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9560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19" y="48828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Geen historische rapportering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19" y="5285232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Niets ondersteunde ploegoverdracht of documentatie — geen PDF-exports of bewaarde snapshots om op terug te blikken.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718304"/>
            <a:ext cx="5696712" cy="1417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4718304"/>
            <a:ext cx="109728" cy="14173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28232" y="4919472"/>
            <a:ext cx="45720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28232" y="49560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A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882896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Reactief, niet proactief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285232"/>
            <a:ext cx="4645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Zonder zicht op trends bleef onderhoud reactief — stijgende storingen bleven onopgemerkt tot ze een stilstand veroorzaakten.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Basisschakelingen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Vrijgaveketens (in serie) achter elke aandrijving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486400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508760"/>
            <a:ext cx="5788152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Wat is een basisschakeling?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Een basisschakeling is een SERIE-keten van voorwaarden — EN-logica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De aandrijving krijgt enkel vrijgave als ELKE voorwaarde in de keten waar is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Eén onderbroken schakel breekt de hele keten → de machine stopt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Elke schakel is zelf een basisschakeling, dus ketens nesten vele niveaus diep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164592" cy="3474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B1A"/>
                </a:solidFill>
              </a:rPr>
              <a:t>Waarom het belangrijk is voor First Faults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Eén stilstand kan schuilgaan achter tientallen geneste voorwaarden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Operatoren moeten vinden welke schakel eerst faalde — de 'first fault'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Dit handmatig traceren over PLC's heen is traag en foutgevoelig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D0D8E8"/>
                </a:solidFill>
              </a:rPr>
              <a:t>›  First Faults reconstrueert de keten automatisch en wijst de grondoorzaak aan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303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</a:rPr>
              <a:t>EN-logica in serie — één gefaalde schakel (rood) legt de hele aandrijving stil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715000"/>
            <a:ext cx="19659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A"/>
                </a:solidFill>
              </a:rPr>
              <a:t>Geen stroomreductie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70048" y="5715000"/>
            <a:ext cx="19659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A"/>
                </a:solidFill>
              </a:rPr>
              <a:t>Positie 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0056" y="5715000"/>
            <a:ext cx="1965960" cy="5486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0056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Aandrijvingen vrijgegeven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6016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70064" y="5715000"/>
            <a:ext cx="19659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0064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3A"/>
                </a:solidFill>
              </a:rPr>
              <a:t>Geen noodstop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6024" y="5971032"/>
            <a:ext cx="384048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20072" y="5715000"/>
            <a:ext cx="1965960" cy="54864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72" y="5833872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VRIJGAVE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Hoe de operator het ziet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Het overzichtsscherm markeert de eerste fout</a:t>
            </a:r>
          </a:p>
        </p:txBody>
      </p:sp>
      <p:pic>
        <p:nvPicPr>
          <p:cNvPr id="7" name="Picture 6" descr="bs_operator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0"/>
            <a:ext cx="4206240" cy="3808066"/>
          </a:xfrm>
          <a:prstGeom prst="rect">
            <a:avLst/>
          </a:prstGeom>
        </p:spPr>
      </p:pic>
      <p:pic>
        <p:nvPicPr>
          <p:cNvPr id="8" name="Picture 7" descr="bs_drill_1_tan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4480"/>
            <a:ext cx="6903720" cy="424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3949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Overzicht — status per aandrijving (WT1–WT5); de rode markering toont de eerste fout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5897880"/>
            <a:ext cx="6903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Klikken op de fout opent het diagnosevenster — het begin van de keten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355080"/>
            <a:ext cx="4297680" cy="4114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3916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B1A"/>
                </a:solidFill>
              </a:rPr>
              <a:t>Vanuit het totaalbeeld zoomt de operator in op de eerste fout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 storingsketen volgen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Inzoomen van rode balk → rode balk, tot de allereerste fout</a:t>
            </a:r>
          </a:p>
        </p:txBody>
      </p:sp>
      <p:pic>
        <p:nvPicPr>
          <p:cNvPr id="7" name="Picture 6" descr="bs_drill_1_tand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023360" cy="24754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621" y="1474851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621" y="1511427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1</a:t>
            </a:r>
          </a:p>
        </p:txBody>
      </p:sp>
      <p:pic>
        <p:nvPicPr>
          <p:cNvPr id="10" name="Picture 9" descr="bs_drill_2_algem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984248"/>
            <a:ext cx="4023360" cy="24933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980998" y="2138649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0998" y="2175225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2</a:t>
            </a:r>
          </a:p>
        </p:txBody>
      </p:sp>
      <p:pic>
        <p:nvPicPr>
          <p:cNvPr id="13" name="Picture 12" descr="bs_drill_3_trekopbou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2642615"/>
            <a:ext cx="4023360" cy="2564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42032" y="2624327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42032" y="2660903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3</a:t>
            </a:r>
          </a:p>
        </p:txBody>
      </p:sp>
      <p:pic>
        <p:nvPicPr>
          <p:cNvPr id="16" name="Picture 15" descr="bs_drill_4_wt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599" y="3300984"/>
            <a:ext cx="4023360" cy="25622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39311" y="3282696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9311" y="33192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4</a:t>
            </a:r>
          </a:p>
        </p:txBody>
      </p:sp>
      <p:pic>
        <p:nvPicPr>
          <p:cNvPr id="19" name="Picture 18" descr="bs_drill_5_lijnda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959352"/>
            <a:ext cx="4023360" cy="25535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736592" y="3941064"/>
            <a:ext cx="384048" cy="384048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3977639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651760" cy="49377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B1A"/>
                </a:solidFill>
              </a:rPr>
              <a:t>Zoekpad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874519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189280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183794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Stopaanvraag tandem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11226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1208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724912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72600" y="274320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68833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Algemene interlocks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2962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1206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3182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3575304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600" y="359359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5387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Vrijgave Trek-opbouw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3813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11221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40325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4425696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72600" y="4443983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438912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Aandrijving WT3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21214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48828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B1A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5276088"/>
            <a:ext cx="365760" cy="36576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72600" y="5294375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A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52395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Lijndata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513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D8E8"/>
                </a:solidFill>
              </a:rPr>
              <a:t>BS 20106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Elke rode balk opent zijn eigen deelschakeling — de operator volgt de rode draad tot de grondfout.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Hoe de PLC-programmeur het ziet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Dezelfde keten als PLC-functieblok-logica</a:t>
            </a:r>
          </a:p>
        </p:txBody>
      </p:sp>
      <p:pic>
        <p:nvPicPr>
          <p:cNvPr id="7" name="Picture 6" descr="bs_programmer_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54480"/>
            <a:ext cx="86410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6199632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PLC-programmeeromgeving — PilootTD rijtoestanden-logica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554480"/>
            <a:ext cx="2770632" cy="46177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6B1A"/>
                </a:solidFill>
              </a:rPr>
              <a:t>Van balken naar blokken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488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Dezelfde vrijgaveketen, nu als functieblok-logica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Elk BS1-/BS_VW-blok = één basisschakeling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PermVw in → Vrijgave uit, geketend van links → rechts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De groene/rode balken die de operator ziet, zijn deze blokstatussen</a:t>
            </a:r>
          </a:p>
          <a:p>
            <a:pPr algn="l">
              <a:spcBef>
                <a:spcPts val="1000"/>
              </a:spcBef>
            </a:pPr>
            <a:r>
              <a:rPr sz="1200" b="0" i="0">
                <a:solidFill>
                  <a:srgbClr val="D0D8E8"/>
                </a:solidFill>
              </a:rPr>
              <a:t>·  First Faults leest deze structuur rechtstreeks uit de PLC-database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Doelen &amp; succescriteria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Wanneer is het 'klaar'?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2704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DB-verbinding via SQLAlchemy + pyodbc (SQL Server)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11095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911095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938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Interlock-keten traceren met recursieve SQL-functie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31343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3172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Diagrammen-dashboard: storingen/uur, MTBF, top-stijgers, heatmap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15768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7157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3405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Inklapbare interlock-boomtabel met server-side filters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18103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118103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36391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PDF-export — dashboard (6 grafieken) en interlock-boom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0439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3520439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38727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Wekelijkse storingssnapshots + historische referentiedatumkiezer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22776"/>
            <a:ext cx="91440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922776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KLAAR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41063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Query-performantie: van ~8 s naar &lt; 1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32511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BEZIG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34340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Geplande dagelijkse snapshot-runs + geautomatiseerd wekelijks e-mailrapport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27448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472744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BEZIG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74573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Finale IIS-deployment + gebruikersacceptatietest (doel: juli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129784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512978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48072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Rolgebaseerde toegang (alleen-lezen vs. admin-configuratie)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532120"/>
            <a:ext cx="91440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5532120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3A"/>
                </a:solidFill>
              </a:rPr>
              <a:t>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55040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Instelbare alarmdrempels met Teams-/e-mailmelding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&amp; verantwoordelijkheden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1508760"/>
            <a:ext cx="5394960" cy="47548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39496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Benoit Goethals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029200" cy="3177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Frontend — UI-</a:t>
            </a:r>
            <a:r>
              <a:rPr sz="1300" b="0" i="0" dirty="0" err="1">
                <a:solidFill>
                  <a:srgbClr val="D0D8E8"/>
                </a:solidFill>
              </a:rPr>
              <a:t>ontwerp</a:t>
            </a:r>
            <a:r>
              <a:rPr sz="1300" b="0" i="0" dirty="0">
                <a:solidFill>
                  <a:srgbClr val="D0D8E8"/>
                </a:solidFill>
              </a:rPr>
              <a:t>, Jinja2-templates, Bootstrap 5-layout</a:t>
            </a: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</a:t>
            </a:r>
            <a:r>
              <a:rPr sz="1300" b="0" i="0" dirty="0" err="1">
                <a:solidFill>
                  <a:srgbClr val="D0D8E8"/>
                </a:solidFill>
              </a:rPr>
              <a:t>Visualisaties</a:t>
            </a:r>
            <a:r>
              <a:rPr sz="1300" b="0" i="0" dirty="0">
                <a:solidFill>
                  <a:srgbClr val="D0D8E8"/>
                </a:solidFill>
              </a:rPr>
              <a:t> — </a:t>
            </a:r>
            <a:r>
              <a:rPr sz="1300" b="0" i="0" dirty="0" err="1">
                <a:solidFill>
                  <a:srgbClr val="D0D8E8"/>
                </a:solidFill>
              </a:rPr>
              <a:t>Plotly-grafieken</a:t>
            </a:r>
            <a:r>
              <a:rPr sz="1300" b="0" i="0" dirty="0">
                <a:solidFill>
                  <a:srgbClr val="D0D8E8"/>
                </a:solidFill>
              </a:rPr>
              <a:t> (</a:t>
            </a:r>
            <a:r>
              <a:rPr sz="1300" b="0" i="0" dirty="0" err="1">
                <a:solidFill>
                  <a:srgbClr val="D0D8E8"/>
                </a:solidFill>
              </a:rPr>
              <a:t>staaf</a:t>
            </a:r>
            <a:r>
              <a:rPr sz="1300" b="0" i="0" dirty="0">
                <a:solidFill>
                  <a:srgbClr val="D0D8E8"/>
                </a:solidFill>
              </a:rPr>
              <a:t>, </a:t>
            </a:r>
            <a:r>
              <a:rPr sz="1300" b="0" i="0" dirty="0" err="1">
                <a:solidFill>
                  <a:srgbClr val="D0D8E8"/>
                </a:solidFill>
              </a:rPr>
              <a:t>taart</a:t>
            </a:r>
            <a:r>
              <a:rPr sz="1300" b="0" i="0" dirty="0">
                <a:solidFill>
                  <a:srgbClr val="D0D8E8"/>
                </a:solidFill>
              </a:rPr>
              <a:t>, heatmap)</a:t>
            </a: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Flask-routes, Blueprint-</a:t>
            </a:r>
            <a:r>
              <a:rPr sz="1300" b="0" i="0" dirty="0" err="1">
                <a:solidFill>
                  <a:srgbClr val="D0D8E8"/>
                </a:solidFill>
              </a:rPr>
              <a:t>structuur</a:t>
            </a:r>
            <a:r>
              <a:rPr sz="1300" b="0" i="0" dirty="0">
                <a:solidFill>
                  <a:srgbClr val="D0D8E8"/>
                </a:solidFill>
              </a:rPr>
              <a:t>, </a:t>
            </a:r>
            <a:r>
              <a:rPr sz="1300" b="0" i="0" dirty="0" err="1">
                <a:solidFill>
                  <a:srgbClr val="D0D8E8"/>
                </a:solidFill>
              </a:rPr>
              <a:t>formulierafhandeling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PDF-export — </a:t>
            </a:r>
            <a:r>
              <a:rPr sz="1300" b="0" i="0" dirty="0" err="1">
                <a:solidFill>
                  <a:srgbClr val="D0D8E8"/>
                </a:solidFill>
              </a:rPr>
              <a:t>DiagramPdfService</a:t>
            </a:r>
            <a:r>
              <a:rPr sz="1300" b="0" i="0" dirty="0">
                <a:solidFill>
                  <a:srgbClr val="D0D8E8"/>
                </a:solidFill>
              </a:rPr>
              <a:t>, </a:t>
            </a:r>
            <a:r>
              <a:rPr sz="1300" b="0" i="0" dirty="0" err="1">
                <a:solidFill>
                  <a:srgbClr val="D0D8E8"/>
                </a:solidFill>
              </a:rPr>
              <a:t>Kaleido</a:t>
            </a:r>
            <a:r>
              <a:rPr sz="1300" b="0" i="0" dirty="0">
                <a:solidFill>
                  <a:srgbClr val="D0D8E8"/>
                </a:solidFill>
              </a:rPr>
              <a:t> + </a:t>
            </a:r>
            <a:r>
              <a:rPr sz="1300" b="0" i="0" dirty="0" err="1">
                <a:solidFill>
                  <a:srgbClr val="D0D8E8"/>
                </a:solidFill>
              </a:rPr>
              <a:t>ReportLab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JavaScript: </a:t>
            </a:r>
            <a:r>
              <a:rPr sz="1300" b="0" i="0" dirty="0" err="1">
                <a:solidFill>
                  <a:srgbClr val="D0D8E8"/>
                </a:solidFill>
              </a:rPr>
              <a:t>inklapbare</a:t>
            </a:r>
            <a:r>
              <a:rPr sz="1300" b="0" i="0" dirty="0">
                <a:solidFill>
                  <a:srgbClr val="D0D8E8"/>
                </a:solidFill>
              </a:rPr>
              <a:t> boom, async PDF-download, </a:t>
            </a:r>
            <a:r>
              <a:rPr sz="1300" b="0" i="0" dirty="0" err="1">
                <a:solidFill>
                  <a:srgbClr val="D0D8E8"/>
                </a:solidFill>
              </a:rPr>
              <a:t>globale</a:t>
            </a:r>
            <a:r>
              <a:rPr sz="1300" b="0" i="0" dirty="0">
                <a:solidFill>
                  <a:srgbClr val="D0D8E8"/>
                </a:solidFill>
              </a:rPr>
              <a:t> spinner</a:t>
            </a: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</a:t>
            </a:r>
            <a:r>
              <a:rPr sz="1300" b="0" i="0" dirty="0" err="1">
                <a:solidFill>
                  <a:srgbClr val="D0D8E8"/>
                </a:solidFill>
              </a:rPr>
              <a:t>Documentatie</a:t>
            </a:r>
            <a:r>
              <a:rPr sz="1300" b="0" i="0" dirty="0">
                <a:solidFill>
                  <a:srgbClr val="D0D8E8"/>
                </a:solidFill>
              </a:rPr>
              <a:t>: README, CHANGELOG, PROJECT_PROGRESS, </a:t>
            </a:r>
            <a:r>
              <a:rPr sz="1300" b="0" i="0" dirty="0" err="1">
                <a:solidFill>
                  <a:srgbClr val="D0D8E8"/>
                </a:solidFill>
              </a:rPr>
              <a:t>architectuurdocs</a:t>
            </a:r>
            <a:endParaRPr sz="1300" b="0" i="0" dirty="0">
              <a:solidFill>
                <a:srgbClr val="D0D8E8"/>
              </a:solidFill>
            </a:endParaRPr>
          </a:p>
          <a:p>
            <a:pPr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</a:t>
            </a:r>
            <a:r>
              <a:rPr sz="1300" b="0" i="0" dirty="0" err="1">
                <a:solidFill>
                  <a:srgbClr val="D0D8E8"/>
                </a:solidFill>
              </a:rPr>
              <a:t>Performantie</a:t>
            </a:r>
            <a:r>
              <a:rPr sz="1300" b="0" i="0" dirty="0">
                <a:solidFill>
                  <a:srgbClr val="D0D8E8"/>
                </a:solidFill>
              </a:rPr>
              <a:t>: query-</a:t>
            </a:r>
            <a:r>
              <a:rPr sz="1300" b="0" i="0" dirty="0" err="1">
                <a:solidFill>
                  <a:srgbClr val="D0D8E8"/>
                </a:solidFill>
              </a:rPr>
              <a:t>herschrijvingen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en</a:t>
            </a:r>
            <a:r>
              <a:rPr sz="1300" b="0" i="0" dirty="0">
                <a:solidFill>
                  <a:srgbClr val="D0D8E8"/>
                </a:solidFill>
              </a:rPr>
              <a:t> DB-</a:t>
            </a:r>
            <a:r>
              <a:rPr sz="1300" b="0" i="0" dirty="0" err="1">
                <a:solidFill>
                  <a:srgbClr val="D0D8E8"/>
                </a:solidFill>
              </a:rPr>
              <a:t>indextuning</a:t>
            </a:r>
            <a:endParaRPr lang="nl-BE" sz="1300" b="0" i="0" dirty="0">
              <a:solidFill>
                <a:srgbClr val="D0D8E8"/>
              </a:solidFill>
            </a:endParaRPr>
          </a:p>
          <a:p>
            <a:pPr>
              <a:spcBef>
                <a:spcPts val="700"/>
              </a:spcBef>
            </a:pPr>
            <a:r>
              <a:rPr lang="en-US" sz="1300" dirty="0">
                <a:solidFill>
                  <a:srgbClr val="D0D8E8"/>
                </a:solidFill>
              </a:rPr>
              <a:t>· </a:t>
            </a:r>
            <a:r>
              <a:rPr lang="en-US" sz="1300" dirty="0" err="1">
                <a:solidFill>
                  <a:srgbClr val="D0D8E8"/>
                </a:solidFill>
              </a:rPr>
              <a:t>MailService</a:t>
            </a:r>
            <a:r>
              <a:rPr lang="en-US" sz="1300" dirty="0">
                <a:solidFill>
                  <a:srgbClr val="D0D8E8"/>
                </a:solidFill>
              </a:rPr>
              <a:t>: </a:t>
            </a:r>
            <a:r>
              <a:rPr lang="en-US" sz="1300" dirty="0" err="1">
                <a:solidFill>
                  <a:srgbClr val="D0D8E8"/>
                </a:solidFill>
              </a:rPr>
              <a:t>geautomatiseerde</a:t>
            </a:r>
            <a:r>
              <a:rPr lang="en-US" sz="1300" dirty="0">
                <a:solidFill>
                  <a:srgbClr val="D0D8E8"/>
                </a:solidFill>
              </a:rPr>
              <a:t> e-</a:t>
            </a:r>
            <a:r>
              <a:rPr lang="en-US" sz="1300" dirty="0" err="1">
                <a:solidFill>
                  <a:srgbClr val="D0D8E8"/>
                </a:solidFill>
              </a:rPr>
              <a:t>mailrapporten</a:t>
            </a:r>
            <a:r>
              <a:rPr lang="en-US" sz="1300" dirty="0">
                <a:solidFill>
                  <a:srgbClr val="D0D8E8"/>
                </a:solidFill>
              </a:rPr>
              <a:t> via SMTP</a:t>
            </a:r>
          </a:p>
          <a:p>
            <a:pPr algn="l">
              <a:spcBef>
                <a:spcPts val="700"/>
              </a:spcBef>
            </a:pPr>
            <a:endParaRPr sz="1300" b="0" i="0" dirty="0">
              <a:solidFill>
                <a:srgbClr val="D0D8E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89320" y="1508760"/>
            <a:ext cx="5879592" cy="475488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5879592" cy="50292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53619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Tom Van de Vyver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48840"/>
            <a:ext cx="548640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Backend — </a:t>
            </a:r>
            <a:r>
              <a:rPr sz="1300" b="0" i="0" dirty="0" err="1">
                <a:solidFill>
                  <a:srgbClr val="D0D8E8"/>
                </a:solidFill>
              </a:rPr>
              <a:t>databaseontwerp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en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normalisatie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SQL Server: TVF's, stored procedures, views, </a:t>
            </a:r>
            <a:r>
              <a:rPr sz="1300" b="0" i="0" dirty="0" err="1">
                <a:solidFill>
                  <a:srgbClr val="D0D8E8"/>
                </a:solidFill>
              </a:rPr>
              <a:t>indexen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</a:t>
            </a:r>
            <a:r>
              <a:rPr sz="1300" b="0" i="0" dirty="0" err="1">
                <a:solidFill>
                  <a:srgbClr val="D0D8E8"/>
                </a:solidFill>
              </a:rPr>
              <a:t>SQLAlchemy</a:t>
            </a:r>
            <a:r>
              <a:rPr sz="1300" b="0" i="0" dirty="0">
                <a:solidFill>
                  <a:srgbClr val="D0D8E8"/>
                </a:solidFill>
              </a:rPr>
              <a:t> ORM-</a:t>
            </a:r>
            <a:r>
              <a:rPr sz="1300" b="0" i="0" dirty="0" err="1">
                <a:solidFill>
                  <a:srgbClr val="D0D8E8"/>
                </a:solidFill>
              </a:rPr>
              <a:t>modellen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en</a:t>
            </a:r>
            <a:r>
              <a:rPr sz="1300" b="0" i="0" dirty="0">
                <a:solidFill>
                  <a:srgbClr val="D0D8E8"/>
                </a:solidFill>
              </a:rPr>
              <a:t> repository-</a:t>
            </a:r>
            <a:r>
              <a:rPr sz="1300" b="0" i="0" dirty="0" err="1">
                <a:solidFill>
                  <a:srgbClr val="D0D8E8"/>
                </a:solidFill>
              </a:rPr>
              <a:t>laag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</a:t>
            </a:r>
            <a:r>
              <a:rPr sz="1300" b="0" i="0" dirty="0" err="1">
                <a:solidFill>
                  <a:srgbClr val="D0D8E8"/>
                </a:solidFill>
              </a:rPr>
              <a:t>InterlockService</a:t>
            </a:r>
            <a:r>
              <a:rPr sz="1300" b="0" i="0" dirty="0">
                <a:solidFill>
                  <a:srgbClr val="D0D8E8"/>
                </a:solidFill>
              </a:rPr>
              <a:t>: motor </a:t>
            </a:r>
            <a:r>
              <a:rPr sz="1300" b="0" i="0" dirty="0" err="1">
                <a:solidFill>
                  <a:srgbClr val="D0D8E8"/>
                </a:solidFill>
              </a:rPr>
              <a:t>voor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grondoorzaak-ketenanalyse</a:t>
            </a:r>
            <a:endParaRPr sz="1300" b="0" i="0" dirty="0">
              <a:solidFill>
                <a:srgbClr val="D0D8E8"/>
              </a:solidFill>
            </a:endParaRP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Snapshot-</a:t>
            </a:r>
            <a:r>
              <a:rPr sz="1300" b="0" i="0" dirty="0" err="1">
                <a:solidFill>
                  <a:srgbClr val="D0D8E8"/>
                </a:solidFill>
              </a:rPr>
              <a:t>systeem</a:t>
            </a:r>
            <a:r>
              <a:rPr sz="1300" b="0" i="0" dirty="0">
                <a:solidFill>
                  <a:srgbClr val="D0D8E8"/>
                </a:solidFill>
              </a:rPr>
              <a:t>: </a:t>
            </a:r>
            <a:r>
              <a:rPr sz="1300" b="0" i="0" dirty="0" err="1">
                <a:solidFill>
                  <a:srgbClr val="D0D8E8"/>
                </a:solidFill>
              </a:rPr>
              <a:t>wekelijkse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storingssnapshots</a:t>
            </a:r>
            <a:r>
              <a:rPr sz="1300" b="0" i="0" dirty="0">
                <a:solidFill>
                  <a:srgbClr val="D0D8E8"/>
                </a:solidFill>
              </a:rPr>
              <a:t> + backfill-scripts</a:t>
            </a:r>
          </a:p>
          <a:p>
            <a:pPr algn="l">
              <a:spcBef>
                <a:spcPts val="700"/>
              </a:spcBef>
            </a:pPr>
            <a:r>
              <a:rPr sz="1300" b="0" i="0" dirty="0">
                <a:solidFill>
                  <a:srgbClr val="D0D8E8"/>
                </a:solidFill>
              </a:rPr>
              <a:t>·  DB-</a:t>
            </a:r>
            <a:r>
              <a:rPr sz="1300" b="0" i="0" dirty="0" err="1">
                <a:solidFill>
                  <a:srgbClr val="D0D8E8"/>
                </a:solidFill>
              </a:rPr>
              <a:t>migratiescripts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en</a:t>
            </a:r>
            <a:r>
              <a:rPr sz="1300" b="0" i="0" dirty="0">
                <a:solidFill>
                  <a:srgbClr val="D0D8E8"/>
                </a:solidFill>
              </a:rPr>
              <a:t> </a:t>
            </a:r>
            <a:r>
              <a:rPr sz="1300" b="0" i="0" dirty="0" err="1">
                <a:solidFill>
                  <a:srgbClr val="D0D8E8"/>
                </a:solidFill>
              </a:rPr>
              <a:t>validatietooling</a:t>
            </a:r>
            <a:endParaRPr sz="1300" b="0" i="0" dirty="0">
              <a:solidFill>
                <a:srgbClr val="D0D8E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Werkwijze &amp; methodologie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8346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Git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main  →  Develop  →  feature branches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Pull requests voor elke feature (50+ PR's gemerged)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Branchnamen volgen GitHub-issuenummers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Geen directe commits naar Develop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2834640" cy="4572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Agile iteraties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Korte cycli: bouwen → testen → reviewen → mergen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Prioriteiten verschuiven op basis van feedback van technici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Wekelijkse afstemming tussen Benoit en Tom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Maandelijkse voortgangsrapportering aan stakeholders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508760"/>
            <a:ext cx="283464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Kwaliteitspraktijken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Overal SQLAlchemy 2.0-conformiteit afgedwongen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SOLID-principes toegepast op de servicelaag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Logging toegevoegd op servicegrenzen voor traceerbaarheid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SQL-scripts geïsoleerd getest vóór integratie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1508760"/>
            <a:ext cx="2834640" cy="45720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5361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84831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PyCharm (IDE)  ·  GitHub (versiebeheer &amp; PR's)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Flask-devserver voor lokaal testen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IIS als productieomgeving</a:t>
            </a:r>
          </a:p>
          <a:p>
            <a:pPr algn="l">
              <a:spcBef>
                <a:spcPts val="900"/>
              </a:spcBef>
            </a:pPr>
            <a:r>
              <a:rPr sz="1200" b="0" i="0">
                <a:solidFill>
                  <a:srgbClr val="D0D8E8"/>
                </a:solidFill>
              </a:rPr>
              <a:t>·  Plotly + Kaleido voor grafiek-naar-PNG-rendering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Architectuur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Drielaagse Flask-applicatie op IIS</a:t>
            </a:r>
          </a:p>
        </p:txBody>
      </p:sp>
      <p:pic>
        <p:nvPicPr>
          <p:cNvPr id="7" name="Picture 6" descr="HighLevelArchitecture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08760"/>
            <a:ext cx="685800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60920" y="1508760"/>
            <a:ext cx="4572000" cy="48463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Presentatielaag
</a:t>
            </a:r>
            <a:r>
              <a:rPr sz="1100">
                <a:solidFill>
                  <a:srgbClr val="D0D8E8"/>
                </a:solidFill>
              </a:rPr>
              <a:t>Flask Blueprints · Jinja2 templates · Bootstrap 5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Businesslaag
</a:t>
            </a:r>
            <a:r>
              <a:rPr sz="1100">
                <a:solidFill>
                  <a:srgbClr val="D0D8E8"/>
                </a:solidFill>
              </a:rPr>
              <a:t>InterlockService · FaultCountService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Datalaag
</a:t>
            </a:r>
            <a:r>
              <a:rPr sz="1100">
                <a:solidFill>
                  <a:srgbClr val="D0D8E8"/>
                </a:solidFill>
              </a:rPr>
              <a:t>SQLAlchemy ORM · SnapshotRepository · DB_Connection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Database
</a:t>
            </a:r>
            <a:r>
              <a:rPr sz="1100">
                <a:solidFill>
                  <a:srgbClr val="D0D8E8"/>
                </a:solidFill>
              </a:rPr>
              <a:t>SQL Server via pyodbc · TVF's · Views · Indexen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Export
</a:t>
            </a:r>
            <a:r>
              <a:rPr sz="1100">
                <a:solidFill>
                  <a:srgbClr val="D0D8E8"/>
                </a:solidFill>
              </a:rPr>
              <a:t>ReportLab PDF · Plotly + Kaleido PNG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Authenticatie
</a:t>
            </a:r>
            <a:r>
              <a:rPr sz="1100">
                <a:solidFill>
                  <a:srgbClr val="D0D8E8"/>
                </a:solidFill>
              </a:rPr>
              <a:t>IIS Windows-authenticatie — geen eigen login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86B1A"/>
                </a:solidFill>
              </a:rPr>
              <a:t>Configuratie
</a:t>
            </a:r>
            <a:r>
              <a:rPr sz="1100">
                <a:solidFill>
                  <a:srgbClr val="D0D8E8"/>
                </a:solidFill>
              </a:rPr>
              <a:t>TOML-configbestand geladen bij opstart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035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</a:rPr>
              <a:t>SQL Server  →  Repository  →  Service  →  Template  →  Browser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Kernfunctionaliteiten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Wat de applicatie levert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83464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Diagrammen-dashboard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Storingen per uur (staafdiagram)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Storingen per PLC — taartdiagram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Top-stijgers (week-op-week stijgende storingen)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MTBF per PLC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Top 10 stijgende storingen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Herhaalde fouten (max. voorvallen per uur)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Heatmap: uur × dag per geselecteerde PLC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Historische week-/maandkiezer via referentiedatum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508760"/>
            <a:ext cx="2834640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Interlock-boom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/plc/table-tree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Recursieve storingsketentracer in SQL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Filters: doel-BSID, top N, PLC, tijdsbereik, voorwaarde-mnemonic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Inklapbare boomrijen — uit-/inklappen per knoop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POST-redirect-GET-patroon voorkomt dubbele indiening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Server-side validatie met flash-berichten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508760"/>
            <a:ext cx="283464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PDF-exports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/plc/diagrams-pdf  &amp;  table-tree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Alle 6 dashboardgrafieken → PNG (Kaleido) → liggende PDF (ReportLab)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Interlock-boom geëxporteerd als opgemaakte PDF-tabel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Async download via fetch — geen herladen van pagina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Globale laad-spinner tijdens generatie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508760"/>
            <a:ext cx="2834640" cy="489204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1508760"/>
            <a:ext cx="2834640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1527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Snapshot &amp; rapportering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6B1A"/>
                </a:solidFill>
              </a:rPr>
              <a:t>run_daily_snapshot.py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2860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Wekelijkse storingstelling-snapshots opgeslagen in DB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Backfill-ondersteuning over meerdere productiedatabases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Langetermijn-regressiezicht: vergelijk trends over maanden</a:t>
            </a:r>
          </a:p>
          <a:p>
            <a:pPr algn="l">
              <a:spcBef>
                <a:spcPts val="700"/>
              </a:spcBef>
            </a:pPr>
            <a:r>
              <a:rPr sz="1100" b="0" i="0">
                <a:solidFill>
                  <a:srgbClr val="D0D8E8"/>
                </a:solidFill>
              </a:rPr>
              <a:t>·  MailService klaar voor geautomatiseerde wekelijkse e-mail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Voortgangstijdlijn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November 2025 →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463040" cy="80467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70992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819656"/>
            <a:ext cx="9948672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20240" y="1508760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57400" y="15270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B1A"/>
                </a:solidFill>
              </a:rPr>
              <a:t>Fase 1 — Opzet &amp;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9280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Flask-app · Blueprint-routing · Plotly-grafieken · Boomtabel · IIS-auth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41448"/>
            <a:ext cx="1463040" cy="804672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6426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Nov–Dec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752344"/>
            <a:ext cx="9948672" cy="36576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20240" y="2441448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24597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5A8A"/>
                </a:solidFill>
              </a:rPr>
              <a:t>Fase 2 — Interlock-motor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254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SQLAlchemy ORM · Recursieve SQL-ketentracer · PDF-export · Snapshots · MailService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74136"/>
            <a:ext cx="1463040" cy="804672"/>
          </a:xfrm>
          <a:prstGeom prst="rect">
            <a:avLst/>
          </a:prstGeom>
          <a:solidFill>
            <a:srgbClr val="27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57530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Feb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685032"/>
            <a:ext cx="9948672" cy="36576"/>
          </a:xfrm>
          <a:prstGeom prst="rect">
            <a:avLst/>
          </a:prstGeom>
          <a:solidFill>
            <a:srgbClr val="27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40" y="3374136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57400" y="33924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E48"/>
                </a:solidFill>
              </a:rPr>
              <a:t>Fase 3 — Stabiliteit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75818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InterlockService-hernoeming · SQL-views · Migratievalidatietooling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06824"/>
            <a:ext cx="1463040" cy="804672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5079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Apr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617720"/>
            <a:ext cx="9948672" cy="3657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20240" y="4306824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57400" y="4325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D3C98"/>
                </a:solidFill>
              </a:rPr>
              <a:t>Fase 4 — Dashboard &amp; performantie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690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6-grafiekendashboard · DiagramPdfService · Referentiedatumkiezer · 8 s → &lt; 1 s querytijd · DB-indexen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39512"/>
            <a:ext cx="1463040" cy="804672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544068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Mei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5550408"/>
            <a:ext cx="9948672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920240" y="5239512"/>
            <a:ext cx="9948672" cy="804672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5740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A99"/>
                </a:solidFill>
              </a:rPr>
              <a:t>Nu — Afwerking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6235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Taartdiagram op home · Subtree-toggle-refactor · PDF-null-fix · Documentatie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Wat komt er nog</a:t>
            </a:r>
          </a:p>
        </p:txBody>
      </p:sp>
      <p:pic>
        <p:nvPicPr>
          <p:cNvPr id="5" name="Picture 4" descr="A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084" y="205739"/>
            <a:ext cx="970547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8E8"/>
                </a:solidFill>
              </a:rPr>
              <a:t>Weg naar MVP — 11 juni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760720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76072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Vóór MVP (11 juni)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Dagelijkse snapshot-runs inplannen (Windows Task Scheduler / IIS)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MailService koppelen aan geautomatiseerde wekelijkse PDF-e-mail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Finale IIS-deployment op productieserver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Gebruikersacceptatietest met ArcelorMittal-technici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Over- &amp; contactpagina's met echte contactgegevens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End-to-end testronde: alle pagina's, filters, PDF-downloads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605272" cy="36576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605272" cy="411480"/>
          </a:xfrm>
          <a:prstGeom prst="rect">
            <a:avLst/>
          </a:prstGeom>
          <a:solidFill>
            <a:srgbClr val="14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Ambities na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Rolgebaseerde toegang: alleen-lezen vs. admin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Instelbare alarmdrempels met e-mail-/Teams-meldingen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Uitgebreide heatmap: inzoomen tot individuele foutcodes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ML-storingsvoorspelling naar productie brengen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Multi-site-ondersteuning (meerdere CIMPLICITY-instanties)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D0D8E8"/>
                </a:solidFill>
              </a:rPr>
              <a:t>›  REST-API zodat andere tools storingstrends kunnen opvragen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349240"/>
            <a:ext cx="11548872" cy="11887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5349240"/>
            <a:ext cx="11548872" cy="54864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Bedankt voor uw aandacht — vragen welkom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99"/>
                </a:solidFill>
              </a:rPr>
              <a:t>Benoit Goethals · Tom Van de Vyver  |  ArcelorMittal  ·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1483</Words>
  <Application>Microsoft Macintosh PowerPoint</Application>
  <PresentationFormat>Custom</PresentationFormat>
  <Paragraphs>267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Benoit Goethals</cp:lastModifiedBy>
  <cp:revision>2</cp:revision>
  <dcterms:created xsi:type="dcterms:W3CDTF">2013-01-27T09:14:16Z</dcterms:created>
  <dcterms:modified xsi:type="dcterms:W3CDTF">2026-06-07T18:32:26Z</dcterms:modified>
  <cp:category/>
</cp:coreProperties>
</file>