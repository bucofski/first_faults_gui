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60320"/>
            <a:ext cx="12188952" cy="21488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391" y="5074920"/>
            <a:ext cx="1588168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86B1A"/>
                </a:solidFill>
              </a:rPr>
              <a:t>FIRST FAULTS 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0D8E8"/>
                </a:solidFill>
              </a:rPr>
              <a:t>Platform voor historische alarmanalyse &amp; rapportering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Benoit Goethals  ·  Tom Van de Vyver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A99"/>
                </a:solidFill>
              </a:rPr>
              <a:t>ArcelorMittal  ·  2025 –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Projectpresentatie van 10 minuten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Wat we behandelen in 10 minuten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01  </a:t>
            </a:r>
            <a:r>
              <a:rPr sz="1700">
                <a:solidFill>
                  <a:srgbClr val="FFFFFF"/>
                </a:solidFill>
              </a:rPr>
              <a:t>Projectbeschrijving &amp; probleemstelling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02  </a:t>
            </a:r>
            <a:r>
              <a:rPr sz="1700">
                <a:solidFill>
                  <a:srgbClr val="FFFFFF"/>
                </a:solidFill>
              </a:rPr>
              <a:t>Doelen &amp; succescriteria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03  </a:t>
            </a:r>
            <a:r>
              <a:rPr sz="1700">
                <a:solidFill>
                  <a:srgbClr val="FFFFFF"/>
                </a:solidFill>
              </a:rPr>
              <a:t>Team &amp; verantwoordelijkheden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04  </a:t>
            </a:r>
            <a:r>
              <a:rPr sz="1700">
                <a:solidFill>
                  <a:srgbClr val="FFFFFF"/>
                </a:solidFill>
              </a:rPr>
              <a:t>Werkwijze &amp; methodologie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05  </a:t>
            </a:r>
            <a:r>
              <a:rPr sz="1700">
                <a:solidFill>
                  <a:srgbClr val="FFFFFF"/>
                </a:solidFill>
              </a:rPr>
              <a:t>Architectuur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06  </a:t>
            </a:r>
            <a:r>
              <a:rPr sz="1700">
                <a:solidFill>
                  <a:srgbClr val="FFFFFF"/>
                </a:solidFill>
              </a:rPr>
              <a:t>Overzicht van kernfunctionaliteiten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07  </a:t>
            </a:r>
            <a:r>
              <a:rPr sz="1700">
                <a:solidFill>
                  <a:srgbClr val="FFFFFF"/>
                </a:solidFill>
              </a:rPr>
              <a:t>Voortgangstijdlijn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08  </a:t>
            </a:r>
            <a:r>
              <a:rPr sz="1700">
                <a:solidFill>
                  <a:srgbClr val="FFFFFF"/>
                </a:solidFill>
              </a:rPr>
              <a:t>Wat komt er nog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Projectbeschrijving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Welk probleem lossen we op?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39496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89320" y="1508760"/>
            <a:ext cx="5879592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Het probleem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CIMPLICITY logt duizenden alarmen per dag op de ArcelorMittal-productielijn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Bestaande tools tonen enkel real-time alarmen — geen historische analyse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Technici zien niet eenvoudig welke storingen toenemen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De grondoorzaak van interlock-ketens zoeken is manueel en tijdrovend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Geen geautomatiseerde rapportering of PDF-export voor ploegoverdracht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Onze oplossing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6596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Python/Flask-webapp via IIS — geen nieuwe login nodig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Interactief dashboard: 6 grafieken + heatmap uit historische SQL Server-data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Recursieve interlock-ketentracer: vind de grondfout in seconden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Wekelijkse storingssnapshots voor langetermijntrend- &amp; regressiedetectie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PDF-export met één klik voor zowel het dashboard als de interlock-boom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Query's onder de seconde via geoptimaliseerde SQL Server-TVF's en indexen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Waarom dit project?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De redenen achter First Faults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54480"/>
            <a:ext cx="5486400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1755648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792224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171907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Database tegen zijn grenzen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121408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De bestaande database was niet performant genoeg — grotere tijdsbereiken opvragen was traag of leverde helemaal niets 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696712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554480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28232" y="1755648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792224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19072"/>
            <a:ext cx="4690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Geen tool voor technici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121408"/>
            <a:ext cx="4645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Onderhoudstechnici hadden geen eigen applicatie — enkel de ruwe, real-time CIMPLICITY-alarmen zonder historiek.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36392"/>
            <a:ext cx="5486400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136392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72" y="3337560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374136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19" y="330098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Storingen zoeken was moeilijk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3703320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Een stilstand herleiden tot de eerste fout doorheen geneste interlock-ketens was manueel, traag en foutgevoelig.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36392"/>
            <a:ext cx="5696712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36392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28232" y="3337560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3374136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300984"/>
            <a:ext cx="4690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Geen analyse van lijnfouten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4645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Er was geen manier om lijnfouten over tijd te analyseren — geen trends, geen top-stijgers, geen week-op-week-vergelijking.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718304"/>
            <a:ext cx="5486400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718304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6072" y="4919472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9560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19" y="48828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Geen historische rapportering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19" y="5285232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Niets ondersteunde ploegoverdracht of documentatie — geen PDF-exports of bewaarde snapshots om op terug te blikken.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4718304"/>
            <a:ext cx="5696712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2200" y="4718304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8232" y="4919472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49560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882896"/>
            <a:ext cx="4690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Reactief, niet proactief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5285232"/>
            <a:ext cx="4645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Zonder zicht op trends bleef onderhoud reactief — stijgende storingen bleven onopgemerkt tot ze een stilstand veroorzaakten.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Basisschakelingen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Vrijgaveketens (in serie) achter elke aandrijving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48640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508760"/>
            <a:ext cx="578815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Wat is een basisschakeling?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Een basisschakeling is een SERIE-keten van voorwaarden — EN-logica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De aandrijving krijgt enkel vrijgave als ELKE voorwaarde in de keten waar is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Eén onderbroken schakel breekt de hele keten → de machine stopt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Elke schakel is zelf een basisschakeling, dus ketens nesten vele niveaus diep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Waarom het belangrijk is voor First Faults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96596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Eén stilstand kan schuilgaan achter tientallen geneste voorwaarden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Operatoren moeten vinden welke schakel eerst faalde — de 'first fault'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Dit handmatig traceren over PLC's heen is traag en foutgevoelig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First Faults reconstrueert de keten automatisch en wijst de grondoorzaak aan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53035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99"/>
                </a:solidFill>
              </a:rPr>
              <a:t>EN-logica in serie — één gefaalde schakel (rood) legt de hele aandrijving stil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Geen stroomreductie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70048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70048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Positie 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0056" y="5715000"/>
            <a:ext cx="1965960" cy="54864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0056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Aandrijvingen vrijgegeven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86016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70064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Geen noodstop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36024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20072" y="5715000"/>
            <a:ext cx="1965960" cy="54864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0072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VRIJGAVE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Hoe de operator het ziet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Het overzichtsscherm markeert de eerste fout</a:t>
            </a:r>
          </a:p>
        </p:txBody>
      </p:sp>
      <p:pic>
        <p:nvPicPr>
          <p:cNvPr id="7" name="Picture 6" descr="bs_operator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54480"/>
            <a:ext cx="4206240" cy="3808066"/>
          </a:xfrm>
          <a:prstGeom prst="rect">
            <a:avLst/>
          </a:prstGeom>
        </p:spPr>
      </p:pic>
      <p:pic>
        <p:nvPicPr>
          <p:cNvPr id="8" name="Picture 7" descr="bs_drill_1_tand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554480"/>
            <a:ext cx="6903720" cy="4247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3949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Overzicht — status per aandrijving (WT1–WT5); de rode markering toont de eerste fout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5897880"/>
            <a:ext cx="6903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Klikken op de fout opent het diagnosevenster — het begin van de keten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355080"/>
            <a:ext cx="4297680" cy="4114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3916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B1A"/>
                </a:solidFill>
              </a:rPr>
              <a:t>Vanuit het totaalbeeld zoomt de operator in op de eerste fout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 storingsketen volgen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Inzoomen van rode balk → rode balk, tot de allereerste fout</a:t>
            </a:r>
          </a:p>
        </p:txBody>
      </p:sp>
      <p:pic>
        <p:nvPicPr>
          <p:cNvPr id="7" name="Picture 6" descr="bs_drill_1_tand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4023360" cy="24754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76621" y="1474851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621" y="1511427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1</a:t>
            </a:r>
          </a:p>
        </p:txBody>
      </p:sp>
      <p:pic>
        <p:nvPicPr>
          <p:cNvPr id="10" name="Picture 9" descr="bs_drill_2_algem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1984248"/>
            <a:ext cx="4023360" cy="249339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980998" y="2138649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0998" y="2175225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2</a:t>
            </a:r>
          </a:p>
        </p:txBody>
      </p:sp>
      <p:pic>
        <p:nvPicPr>
          <p:cNvPr id="13" name="Picture 12" descr="bs_drill_3_trekopbou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642615"/>
            <a:ext cx="4023360" cy="2564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542032" y="2624327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2660903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3</a:t>
            </a:r>
          </a:p>
        </p:txBody>
      </p:sp>
      <p:pic>
        <p:nvPicPr>
          <p:cNvPr id="16" name="Picture 15" descr="bs_drill_4_wt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599" y="3300984"/>
            <a:ext cx="4023360" cy="2562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639311" y="3282696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1" y="33192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4</a:t>
            </a:r>
          </a:p>
        </p:txBody>
      </p:sp>
      <p:pic>
        <p:nvPicPr>
          <p:cNvPr id="19" name="Picture 18" descr="bs_drill_5_lijn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3959352"/>
            <a:ext cx="4023360" cy="25535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736592" y="3941064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6592" y="3977639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1371600"/>
            <a:ext cx="2651760" cy="493776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6B1A"/>
                </a:solidFill>
              </a:rPr>
              <a:t>Zoekpad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1874519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892807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7232" y="1837943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Stopaanvraag tandem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57232" y="211226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1208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600" y="2724912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2743200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688336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Algemene interlocks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6265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1206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31821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72600" y="3575304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3593592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353872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Vrijgave Trek-opbouw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57232" y="38130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11221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6608" y="40325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72600" y="4425696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4443983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7232" y="4389120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Aandrijving WT3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57232" y="4663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21214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36608" y="48828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72600" y="5276088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72600" y="5294375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57232" y="523951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Lijndata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55138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20106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4465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Elke rode balk opent zijn eigen deelschakeling — de operator volgt de rode draad tot de grondfout.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Hoe de PLC-programmeur het ziet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Dezelfde keten als PLC-functieblok-logica</a:t>
            </a:r>
          </a:p>
        </p:txBody>
      </p:sp>
      <p:pic>
        <p:nvPicPr>
          <p:cNvPr id="7" name="Picture 6" descr="bs_programmer_log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54480"/>
            <a:ext cx="864108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6199632"/>
            <a:ext cx="8641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PLC-programmeeromgeving — PilootTD rijtoestanden-logica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98280" y="1554480"/>
            <a:ext cx="2770632" cy="4617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6B1A"/>
                </a:solidFill>
              </a:rPr>
              <a:t>Van balken naar blokken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14884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Dezelfde vrijgaveketen, nu als functieblok-logica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Elk BS1-/BS_VW-blok = één basisschakeling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PermVw in → Vrijgave uit, geketend van links → rechts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De groene/rode balken die de operator ziet, zijn deze blokstatussen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First Faults leest deze structuur rechtstreeks uit de PLC-database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Doelen &amp; succescriteria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Wanneer is het 'klaar'?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52704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DB-verbinding via SQLAlchemy + pyodbc (SQL Server)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2938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Interlock-keten traceren met recursieve SQL-functie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3172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Diagrammen-dashboard: storingen/uur, MTBF, top-stijgers, heatmap 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73405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Inklapbare interlock-boomtabel met server-side filters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136391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PDF-export — dashboard (6 grafieken) en interlock-boom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538727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Wekelijkse storingssnapshots + historische referentiedatumkiezer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941063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Query-performantie: van ~8 s naar &lt; 1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BEZIG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34340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Geplande dagelijkse snapshot-runs + geautomatiseerd wekelijks e-mailrapport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BEZIG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74573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Finale IIS-deployment + gebruikersacceptatietest (doel: juli 2026)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148072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Rolgebaseerde toegang (alleen-lezen vs. admin-configuratie)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55040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Instelbare alarmdrempels met Teams-/e-mailmelding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&amp; verantwoordelijkheden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1508760"/>
            <a:ext cx="5394960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394960" cy="5029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Benoit Goethals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488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Frontend — UI-ontwerp, Jinja2-templates, Bootstrap 5-layout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Visualisaties — Plotly-grafieken (staaf, taart, heatmap)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Flask-routes, Blueprint-structuur, formulierafhandeling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PDF-export — DiagramPdfService, Kaleido + ReportLab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JavaScript: inklapbare boom, async PDF-download, globale spinner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Documentatie: README, CHANGELOG, PROJECT_PROGRESS, architectuurdocs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Performantie: query-herschrijvingen en DB-indextuning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508760"/>
            <a:ext cx="5879592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1508760"/>
            <a:ext cx="5879592" cy="50292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536192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Tom Van de Vyver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14884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Backend — databaseontwerp en normalisatie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 Server: TVF's, stored procedures, views, indexen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SQLAlchemy ORM-modellen en repository-laag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InterlockService: motor voor grondoorzaak-ketenanalyse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Snapshot-systeem: wekelijkse storingssnapshots + backfill-scripts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MailService: geautomatiseerde e-mailrapporten via SMTP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DB-migratiescripts en validatietooling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Werkwijze &amp; methodologie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Git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main  →  Develop  →  feature branches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Pull requests voor elke feature (50+ PR's gemerged)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Branchnamen volgen GitHub-issuenummers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Geen directe commits naar Develop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Agile iteraties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Korte cycli: bouwen → testen → reviewen → mergen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Prioriteiten verschuiven op basis van feedback van technici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Wekelijkse afstemming tussen Benoit en Tom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Maandelijkse voortgangsrapportering aan stakeholders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Kwaliteitspraktijken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Overal SQLAlchemy 2.0-conformiteit afgedwongen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SOLID-principes toegepast op de servicelaag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Logging toegevoegd op servicegrenzen voor traceerbaarheid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SQL-scripts geïsoleerd getest vóór integratie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Tooling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PyCharm (IDE)  ·  GitHub (versiebeheer &amp; PR's)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Flask-devserver voor lokaal testen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IIS als productieomgeving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Plotly + Kaleido voor grafiek-naar-PNG-rendering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Architectuur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Drielaagse Flask-applicatie op IIS</a:t>
            </a:r>
          </a:p>
        </p:txBody>
      </p:sp>
      <p:pic>
        <p:nvPicPr>
          <p:cNvPr id="7" name="Picture 6" descr="HighLevelArchitecture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08760"/>
            <a:ext cx="6858000" cy="4846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60920" y="1508760"/>
            <a:ext cx="4572000" cy="4846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Presentatielaag
</a:t>
            </a:r>
            <a:r>
              <a:rPr sz="1100">
                <a:solidFill>
                  <a:srgbClr val="D0D8E8"/>
                </a:solidFill>
              </a:rPr>
              <a:t>Flask Blueprints · Jinja2 templates · Bootstrap 5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Businesslaag
</a:t>
            </a:r>
            <a:r>
              <a:rPr sz="1100">
                <a:solidFill>
                  <a:srgbClr val="D0D8E8"/>
                </a:solidFill>
              </a:rPr>
              <a:t>InterlockService · FaultCountService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Datalaag
</a:t>
            </a:r>
            <a:r>
              <a:rPr sz="1100">
                <a:solidFill>
                  <a:srgbClr val="D0D8E8"/>
                </a:solidFill>
              </a:rPr>
              <a:t>SQLAlchemy ORM · SnapshotRepository · DB_Connection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Database
</a:t>
            </a:r>
            <a:r>
              <a:rPr sz="1100">
                <a:solidFill>
                  <a:srgbClr val="D0D8E8"/>
                </a:solidFill>
              </a:rPr>
              <a:t>SQL Server via pyodbc · TVF's · Views · Indexen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Export
</a:t>
            </a:r>
            <a:r>
              <a:rPr sz="1100">
                <a:solidFill>
                  <a:srgbClr val="D0D8E8"/>
                </a:solidFill>
              </a:rPr>
              <a:t>ReportLab PDF · Plotly + Kaleido PNG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Authenticatie
</a:t>
            </a:r>
            <a:r>
              <a:rPr sz="1100">
                <a:solidFill>
                  <a:srgbClr val="D0D8E8"/>
                </a:solidFill>
              </a:rPr>
              <a:t>IIS Windows-authenticatie — geen eigen login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Configuratie
</a:t>
            </a:r>
            <a:r>
              <a:rPr sz="1100">
                <a:solidFill>
                  <a:srgbClr val="D0D8E8"/>
                </a:solidFill>
              </a:rPr>
              <a:t>TOML-configbestand geladen bij opstart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035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99"/>
                </a:solidFill>
              </a:rPr>
              <a:t>SQL Server  →  Repository  →  Service  →  Template  →  Browser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Kernfunctionaliteiten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Wat de applicatie levert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Diagrammen-dashboard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Storingen per uur (staafdiagram)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Storingen per PLC — taartdiagram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Top-stijgers (week-op-week stijgende storingen)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MTBF per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10 stijgende storingen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Herhaalde fouten (max. voorvallen per uur)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Heatmap: uur × dag per geselecteerde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Historische week-/maandkiezer via referentiedatum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Interlock-boom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/plc/table-tree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Recursieve storingsketentracer in SQL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Filters: doel-BSID, top N, PLC, tijdsbereik, voorwaarde-mnemonic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Inklapbare boomrijen — uit-/inklappen per knoop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POST-redirect-GET-patroon voorkomt dubbele indiening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Server-side validatie met flash-berichten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PDF-exports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/plc/diagrams-pdf  &amp;  table-tree 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Alle 6 dashboardgrafieken → PNG (Kaleido) → liggende PDF (ReportLab)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Interlock-boom geëxporteerd als opgemaakte PDF-tabel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Async download via fetch — geen herladen van pagina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Globale laad-spinner tijdens generatie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Snapshot &amp; rapportering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run_daily_snapshot.py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Wekelijkse storingstelling-snapshots opgeslagen in DB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Backfill-ondersteuning over meerdere productiedatabases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Langetermijn-regressiezicht: vergelijk trends over maanden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MailService klaar voor geautomatiseerde wekelijkse e-mail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Voortgangstijdlijn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November 2025 →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1463040" cy="8046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709928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819656"/>
            <a:ext cx="9948672" cy="36576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20240" y="1508760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5270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B1A"/>
                </a:solidFill>
              </a:rPr>
              <a:t>Fase 1 — Opzet &amp; 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892807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Flask-app · Blueprint-routing · Plotly-grafieken · Boomtabel · IIS-auth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441448"/>
            <a:ext cx="1463040" cy="804672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642616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Nov–Dec 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752344"/>
            <a:ext cx="9948672" cy="36576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20240" y="2441448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245973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5A8A"/>
                </a:solidFill>
              </a:rPr>
              <a:t>Fase 2 — Interlock-motor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82549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SQLAlchemy ORM · Recursieve SQL-ketentracer · PDF-export · Snapshots · MailService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74136"/>
            <a:ext cx="1463040" cy="804672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575304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3685032"/>
            <a:ext cx="9948672" cy="36576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20240" y="3374136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33924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6E48"/>
                </a:solidFill>
              </a:rPr>
              <a:t>Fase 3 — Stabiliteit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758184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InterlockService-hernoeming · SQL-views · Migratievalidatietooling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306824"/>
            <a:ext cx="1463040" cy="804672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507992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Apr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4617720"/>
            <a:ext cx="9948672" cy="36576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4306824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43251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3C98"/>
                </a:solidFill>
              </a:rPr>
              <a:t>Fase 4 — Dashboard &amp; performantie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690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6-grafiekendashboard · DiagramPdfService · Referentiedatumkiezer · 8 s → &lt; 1 s querytijd · DB-indexen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239512"/>
            <a:ext cx="1463040" cy="804672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544068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Mei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20240" y="5550408"/>
            <a:ext cx="9948672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20240" y="5239512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A99"/>
                </a:solidFill>
              </a:rPr>
              <a:t>Nu — Afwerking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62356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Taartdiagram op home · Subtree-toggle-refactor · PDF-null-fix · Documentatie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Wat komt er nog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Weg naar MVP — 11 juni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76072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576072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Vóór MVP (11 juni)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116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Dagelijkse snapshot-runs inplannen (Windows Task Scheduler / IIS)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MailService koppelen aan geautomatiseerde wekelijkse PDF-e-mail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Finale IIS-deployment op productieserver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Gebruikersacceptatietest met ArcelorMittal-technici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Over- &amp; contactpagina's met echte contactgegevens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End-to-end testronde: alle pagina's, filters, PDF-downloads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560527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5605272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270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Ambities na MVP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1168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Rolgebaseerde toegang: alleen-lezen vs. admin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Instelbare alarmdrempels met e-mail-/Teams-meldingen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Uitgebreide heatmap: inzoomen tot individuele foutcodes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ML-storingsvoorspelling naar productie brengen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Multi-site-ondersteuning (meerdere CIMPLICITY-instanties)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REST-API zodat andere tools storingstrends kunnen opvragen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5349240"/>
            <a:ext cx="11548872" cy="54864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Bedankt voor uw aandacht — vragen welkom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Benoit Goethals · Tom Van de Vyver  |  ArcelorMittal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