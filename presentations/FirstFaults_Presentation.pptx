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2188952" cy="21488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391" y="5074920"/>
            <a:ext cx="1588168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6B1A"/>
                </a:solidFill>
              </a:rPr>
              <a:t>FIRST FAULTS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0D8E8"/>
                </a:solidFill>
              </a:rPr>
              <a:t>Historical Alarm Analysis &amp; Reporting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Benoit Goethals  ·  Tom Van de Vyver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A99"/>
                </a:solidFill>
              </a:rPr>
              <a:t>ArcelorMittal  ·  2025 –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A99"/>
                </a:solidFill>
              </a:rPr>
              <a:t>10-minute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What we'll cover in 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01  </a:t>
            </a:r>
            <a:r>
              <a:rPr sz="1700">
                <a:solidFill>
                  <a:srgbClr val="FFFFFF"/>
                </a:solidFill>
              </a:rPr>
              <a:t>Project description &amp; problem statement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02  </a:t>
            </a:r>
            <a:r>
              <a:rPr sz="1700">
                <a:solidFill>
                  <a:srgbClr val="FFFFFF"/>
                </a:solidFill>
              </a:rPr>
              <a:t>Goals &amp; success criteria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03  </a:t>
            </a:r>
            <a:r>
              <a:rPr sz="1700">
                <a:solidFill>
                  <a:srgbClr val="FFFFFF"/>
                </a:solidFill>
              </a:rPr>
              <a:t>Team &amp; responsibilities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04  </a:t>
            </a:r>
            <a:r>
              <a:rPr sz="1700">
                <a:solidFill>
                  <a:srgbClr val="FFFFFF"/>
                </a:solidFill>
              </a:rPr>
              <a:t>Working style &amp; methodology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05  </a:t>
            </a:r>
            <a:r>
              <a:rPr sz="1700">
                <a:solidFill>
                  <a:srgbClr val="FFFFFF"/>
                </a:solidFill>
              </a:rPr>
              <a:t>Architecture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06  </a:t>
            </a:r>
            <a:r>
              <a:rPr sz="1700">
                <a:solidFill>
                  <a:srgbClr val="FFFFFF"/>
                </a:solidFill>
              </a:rPr>
              <a:t>Key features walkthrough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07  </a:t>
            </a:r>
            <a:r>
              <a:rPr sz="1700">
                <a:solidFill>
                  <a:srgbClr val="FFFFFF"/>
                </a:solidFill>
              </a:rPr>
              <a:t>Progress timeline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08  </a:t>
            </a:r>
            <a:r>
              <a:rPr sz="1700">
                <a:solidFill>
                  <a:srgbClr val="FFFFFF"/>
                </a:solidFill>
              </a:rPr>
              <a:t>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Description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What problem are we solving?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39496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508760"/>
            <a:ext cx="5879592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CIMPLICITY logs thousands of alarms per day on the ArcelorMittal production line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Existing tools only show real-time alarms — no historical analysis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Engineers cannot easily see which faults are trending upward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Finding the root cause of interlock chains is manual and time-consuming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No automated reporting or PDF exports for shift handover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9659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Python / Flask web app served through IIS — no new login required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Interactive dashboard: 6 charts + heatmap from historical SQL Server data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Recursive interlock chain tracer: find the root fault in seconds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Weekly fault snapshots for long-term trend &amp; regression detection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One-click PDF export for both the dashboard and the interlock tree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Sub-second queries via optimised SQL Server TVFs and indexes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This Project?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The reasons that triggered First Faults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5486400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1755648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7922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1907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Database hit its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121408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The existing database wasn't performant enough — asking for larger time ranges of data was slow or returned nothing at 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696712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54480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28232" y="1755648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7922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719072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tool for technicians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121408"/>
            <a:ext cx="4645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Maintenance engineers had no dedicated application — only the raw, real-time CIMPLICITY alarms with no history.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36392"/>
            <a:ext cx="5486400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136392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" y="3337560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37413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330098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Fault finding was hard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703320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Tracing a stop back to its first fault through nested interlock chains was manual, slow and error-prone.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136392"/>
            <a:ext cx="5696712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136392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28232" y="3337560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37413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300984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line-fault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03320"/>
            <a:ext cx="4645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There was no way to analyse line faults over time — no trends, no top-risers, no week-over-week comparison.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718304"/>
            <a:ext cx="5486400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718304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" y="4919472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9560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19" y="488289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historical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19" y="5285232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Nothing supported shift handover or documentation — no PDF exports or stored snapshots to look back 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718304"/>
            <a:ext cx="5696712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4718304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28232" y="4919472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49560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882896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Reactive, not proactive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285232"/>
            <a:ext cx="4645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Without trend visibility, maintenance stayed reactive — climbing faults went unnoticed until they caused a breakdown.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Basic Circuits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Series enable-chains (vrijgaveketens) behind every drive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486400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508760"/>
            <a:ext cx="5788152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What is a basic circuit?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A basic circuit (basisschakeling) is a SERIES chain of conditions — AND logic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The drive is only enabled (Vrijgave) when EVERY condition in the chain is true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One broken link breaks the whole chain → the machine stops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Each link is itself a basic circuit, so chains nest many levels deep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Why it matters for First Faults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A single stop can hide behind dozens of nested conditions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Operators must find which link failed first — the 'first fault'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Tracing this by hand across PLCs is slow and error-prone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First Faults reconstructs the chain automatically and points to the root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303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</a:rPr>
              <a:t>AND-logic in series — one failed link (red) stops the whole drive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715000"/>
            <a:ext cx="196596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3A"/>
                </a:solidFill>
              </a:rPr>
              <a:t>No current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971032"/>
            <a:ext cx="384048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0048" y="5715000"/>
            <a:ext cx="196596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0048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3A"/>
                </a:solidFill>
              </a:rPr>
              <a:t>Position 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5971032"/>
            <a:ext cx="384048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0056" y="5715000"/>
            <a:ext cx="1965960" cy="5486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0056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Drives released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86016" y="5971032"/>
            <a:ext cx="384048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4" y="5715000"/>
            <a:ext cx="196596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3A"/>
                </a:solidFill>
              </a:rPr>
              <a:t>No e-stop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36024" y="5971032"/>
            <a:ext cx="384048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20072" y="5715000"/>
            <a:ext cx="1965960" cy="54864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72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VRIJGAVE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the Operator Sees It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The overview screen flags the first fault</a:t>
            </a:r>
          </a:p>
        </p:txBody>
      </p:sp>
      <p:pic>
        <p:nvPicPr>
          <p:cNvPr id="7" name="Picture 6" descr="bs_operator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54480"/>
            <a:ext cx="4206240" cy="3808066"/>
          </a:xfrm>
          <a:prstGeom prst="rect">
            <a:avLst/>
          </a:prstGeom>
        </p:spPr>
      </p:pic>
      <p:pic>
        <p:nvPicPr>
          <p:cNvPr id="8" name="Picture 7" descr="bs_drill_1_tand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4480"/>
            <a:ext cx="6903720" cy="4247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3949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</a:rPr>
              <a:t>Overview — status per drive (WT1–WT5); the red marker flags the first 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5897880"/>
            <a:ext cx="6903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</a:rPr>
              <a:t>Clicking the fault opens its diagnostic window — the start of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355080"/>
            <a:ext cx="4297680" cy="4114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9165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6B1A"/>
                </a:solidFill>
              </a:rPr>
              <a:t>From the big picture, the operator drills into the first fault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Following the Fault Chain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Drill down red bar → red bar, until the very first fault</a:t>
            </a:r>
          </a:p>
        </p:txBody>
      </p:sp>
      <p:pic>
        <p:nvPicPr>
          <p:cNvPr id="7" name="Picture 6" descr="bs_drill_1_tand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4023360" cy="24754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6621" y="1474851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621" y="1511427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1</a:t>
            </a:r>
          </a:p>
        </p:txBody>
      </p:sp>
      <p:pic>
        <p:nvPicPr>
          <p:cNvPr id="10" name="Picture 9" descr="bs_drill_2_algem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984248"/>
            <a:ext cx="4023360" cy="24933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980998" y="2138649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0998" y="2175225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2</a:t>
            </a:r>
          </a:p>
        </p:txBody>
      </p:sp>
      <p:pic>
        <p:nvPicPr>
          <p:cNvPr id="13" name="Picture 12" descr="bs_drill_3_trekopbou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2642615"/>
            <a:ext cx="4023360" cy="25648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42032" y="2624327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2660903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3</a:t>
            </a:r>
          </a:p>
        </p:txBody>
      </p:sp>
      <p:pic>
        <p:nvPicPr>
          <p:cNvPr id="16" name="Picture 15" descr="bs_drill_4_wt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599" y="3300984"/>
            <a:ext cx="4023360" cy="2562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639311" y="3282696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1" y="33192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4</a:t>
            </a:r>
          </a:p>
        </p:txBody>
      </p:sp>
      <p:pic>
        <p:nvPicPr>
          <p:cNvPr id="19" name="Picture 18" descr="bs_drill_5_lijnda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959352"/>
            <a:ext cx="4023360" cy="255352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736592" y="3941064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3977639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371600"/>
            <a:ext cx="2651760" cy="49377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B1A"/>
                </a:solidFill>
              </a:rPr>
              <a:t>Drill 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874519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892807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183794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Tandem stop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11226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1208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B1A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2724912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274320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68833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General interlocks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2962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1206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31821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B1A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3575304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359359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35387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Enable Trek-opbouw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38130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11221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40325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B1A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4425696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4443983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32" y="438912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Drive WT3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21214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608" y="4882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B1A"/>
                </a:solidFill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72600" y="5276088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5294375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57232" y="52395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Line data (Lijndata)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513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20106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</a:rPr>
              <a:t>Each red bar opens its own sub-circuit — the operator follows the red thread down to the root 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the PLC Programmer Sees It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The same chain as PLC function-block logic</a:t>
            </a:r>
          </a:p>
        </p:txBody>
      </p:sp>
      <p:pic>
        <p:nvPicPr>
          <p:cNvPr id="7" name="Picture 6" descr="bs_programmer_lo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54480"/>
            <a:ext cx="8641080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199632"/>
            <a:ext cx="8641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</a:rPr>
              <a:t>PLC programming environment — PilootTD rijtoestanden-logica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554480"/>
            <a:ext cx="2770632" cy="46177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B1A"/>
                </a:solidFill>
              </a:rPr>
              <a:t>From bars to blocks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488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Same enable-chain, now as function-block logic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Each BS1 / BS_VW block = one basic circuit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PermVw in → Vrijgave out, daisy-chained left → right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The green/red bars the operator sees are these block states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First Faults reads this structure straight from the PLC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Goals &amp; Success Criteria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What does 'done' look like?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27048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DB connection via SQLAlchemy + pyodbc (SQL Server)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11095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11095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9384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Interlock chain tracing with recursive SQL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13432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1343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3172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Diagrams dashboard: faults/hour, MTBF, top risers, heatmap 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15768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715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34056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Collapsible interlock tree table with server-side filters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18103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118103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36391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PDF export — dashboard (6 charts) and interlock tree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20439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520439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38727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Weekly fault snapshots + historical reference-date picker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22776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9227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41063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Query performance: from ~8 s to &lt; 1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325112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32511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WIP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34340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Scheduled daily snapshot runs + automated weekly email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727448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7274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WIP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45736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Final IIS deployment + user acceptance test (target: July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129784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12978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148072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Role-based access (read-only vs. admin configuration)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532120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53212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LATER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550408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Configurable alert thresholds with Teams/email notification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 &amp; Responsibilities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1508760"/>
            <a:ext cx="5394960" cy="47548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39496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Benoit Goethals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Frontend — UI design, Jinja2 templates, Bootstrap 5 layout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Visualisations — Plotly charts (bar, pie, heatmap)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Flask routes, Blueprint structure, form handling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PDF export — DiagramPdfService, Kaleido + ReportLab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JavaScript: collapsible tree, async PDF download, global spinner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Documentation: README, CHANGELOG, PROJECT_PROGRESS, architecture docs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Performance: query rewrites and DB index tuning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79592" cy="47548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508760"/>
            <a:ext cx="5879592" cy="5029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3619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Tom Van de Vyver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488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Backend — database design and normalisation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SQL Server: TVFs, stored procedures, views, indexes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SQLAlchemy ORM models and repository layer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InterlockService: root-cause chain analysis engine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Snapshot system: weekly fault snapshots + backfill scripts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MailService: SMTP-based automated email reports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DB migration scripts and validation tooling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Working Style &amp; Methodology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83464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Git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main  →  Develop  →  feature branches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Pull requests for every feature (50+ PRs merged)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Branch names follow GitHub issue numbers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No direct commits to Develop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508760"/>
            <a:ext cx="2834640" cy="45720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Agile Iterations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Short cycles: build → test → review → merge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Priorities shift based on user feedback from engineers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Weekly sync between Benoit and Tom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Progress reported monthly to stakeholders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508760"/>
            <a:ext cx="283464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Quality Practices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SQLAlchemy 2.0 compliance enforced throughout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SOLID principles applied to service layer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Logging added at service boundaries for traceability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SQL scripts tested in isolation before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508760"/>
            <a:ext cx="2834640" cy="45720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PyCharm (IDE)  ·  GitHub (versioning &amp; PRs)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Flask dev server for local testing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IIS as production run environment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Plotly + Kaleido for chart-to-PNG rendering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Three-tier Flask application on IIS</a:t>
            </a:r>
          </a:p>
        </p:txBody>
      </p:sp>
      <p:pic>
        <p:nvPicPr>
          <p:cNvPr id="7" name="Picture 6" descr="HighLevelArchitecture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08760"/>
            <a:ext cx="6858000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60920" y="1508760"/>
            <a:ext cx="4572000" cy="4846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Presentation layer
</a:t>
            </a:r>
            <a:r>
              <a:rPr sz="1100">
                <a:solidFill>
                  <a:srgbClr val="D0D8E8"/>
                </a:solidFill>
              </a:rPr>
              <a:t>Flask Blueprints · Jinja2 templates · Bootstrap 5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Business layer
</a:t>
            </a:r>
            <a:r>
              <a:rPr sz="1100">
                <a:solidFill>
                  <a:srgbClr val="D0D8E8"/>
                </a:solidFill>
              </a:rPr>
              <a:t>InterlockService · FaultCountService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Data layer
</a:t>
            </a:r>
            <a:r>
              <a:rPr sz="1100">
                <a:solidFill>
                  <a:srgbClr val="D0D8E8"/>
                </a:solidFill>
              </a:rPr>
              <a:t>SQLAlchemy ORM · SnapshotRepository · DB_Connection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Database
</a:t>
            </a:r>
            <a:r>
              <a:rPr sz="1100">
                <a:solidFill>
                  <a:srgbClr val="D0D8E8"/>
                </a:solidFill>
              </a:rPr>
              <a:t>SQL Server via pyodbc · TVFs · Views · Indexes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Export
</a:t>
            </a:r>
            <a:r>
              <a:rPr sz="1100">
                <a:solidFill>
                  <a:srgbClr val="D0D8E8"/>
                </a:solidFill>
              </a:rPr>
              <a:t>ReportLab PDF · Plotly + Kaleido PNG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Auth
</a:t>
            </a:r>
            <a:r>
              <a:rPr sz="1100">
                <a:solidFill>
                  <a:srgbClr val="D0D8E8"/>
                </a:solidFill>
              </a:rPr>
              <a:t>IIS Windows Authentication — no custom login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Config
</a:t>
            </a:r>
            <a:r>
              <a:rPr sz="1100">
                <a:solidFill>
                  <a:srgbClr val="D0D8E8"/>
                </a:solidFill>
              </a:rPr>
              <a:t>TOML config file loaded at startup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0350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</a:rPr>
              <a:t>SQL Server  →  Repository  →  Service  →  Template  →  Browser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What the application delivers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83464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Diagrams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/plc/diagrams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Faults per hour (bar chart)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Faults per PLC — pie chart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Top risers (week-over-week climbing faults)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MTBF per PLC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Top 10 climbing faults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Repeat offenders (max occurrences per hour)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Heatmap: hour × day per selected PLC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Historical week/month picker via reference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508760"/>
            <a:ext cx="2834640" cy="41148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Interlock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/plc/table-tree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Recursive fault-chain tracer in SQL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Filters: Target BSID, Top N, PLC, time range, condition mnemonic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Collapsible tree rows — expand/collapse per node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POST-redirect-GET pattern prevents double-submit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Server-side validation with flash 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508760"/>
            <a:ext cx="283464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PDF Exports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/plc/diagrams-pdf  &amp;  table-tree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All 6 dashboard charts → PNG (Kaleido) → landscape PDF (ReportLab)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Interlock tree exported as formatted PDF table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Async download via fetch — no page reload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Global loading spinner shown during generation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508760"/>
            <a:ext cx="2834640" cy="41148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Snapshot &amp;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run_daily_snapshot.py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Weekly fault count snapshots stored in DB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Backfill support across multiple production databases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Long-term regression view: compare trends over months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MailService ready for automated weekly email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Progress Timeline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November 2025 →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463040" cy="8046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0992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Nov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819656"/>
            <a:ext cx="9948672" cy="36576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40" y="1508760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5270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B1A"/>
                </a:solidFill>
              </a:rPr>
              <a:t>Phase 1 — Setup &amp; 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92807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Flask app · Blueprint routing · Plotly charts · Tree table · IIS 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41448"/>
            <a:ext cx="1463040" cy="804672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64261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Nov–Dec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752344"/>
            <a:ext cx="9948672" cy="36576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2441448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24597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5A8A"/>
                </a:solidFill>
              </a:rPr>
              <a:t>Phase 2 — Interlock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2549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SQLAlchemy ORM · Recursive SQL chain tracer · PDF export · Snapshots · MailService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74136"/>
            <a:ext cx="1463040" cy="804672"/>
          </a:xfrm>
          <a:prstGeom prst="rect">
            <a:avLst/>
          </a:prstGeom>
          <a:solidFill>
            <a:srgbClr val="27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57530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Feb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685032"/>
            <a:ext cx="9948672" cy="36576"/>
          </a:xfrm>
          <a:prstGeom prst="rect">
            <a:avLst/>
          </a:prstGeom>
          <a:solidFill>
            <a:srgbClr val="27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3374136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33924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E48"/>
                </a:solidFill>
              </a:rPr>
              <a:t>Phase 3 — Stability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75818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InterlockService rename · SQL views · Migration validation tooling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06824"/>
            <a:ext cx="1463040" cy="804672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50799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Apr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617720"/>
            <a:ext cx="9948672" cy="3657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20240" y="4306824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43251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3C98"/>
                </a:solidFill>
              </a:rPr>
              <a:t>Phase 4 — Dashboard &amp;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690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6-chart dashboard · DiagramPdfService · Reference-date picker · 8 s → &lt; 1 s query time · DB indexes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39512"/>
            <a:ext cx="1463040" cy="804672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44068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5550408"/>
            <a:ext cx="9948672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20240" y="5239512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5257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A99"/>
                </a:solidFill>
              </a:rPr>
              <a:t>Now — Polish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6235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Pie chart on home · Subtree toggle refactor · PDF null-fix ·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What's Next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Road to MVP — 11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760720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76072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Before MVP (June 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Schedule daily snapshot runs (Windows Task Scheduler / IIS)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Wire MailService to automated weekly PDF email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Final IIS deployment on production server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User acceptance test with ArcelorMittal engineers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About &amp; Contact pages with real contact details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End-to-end test pass: all pages, filters, PDF downloads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605272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605272" cy="41148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Post-MVP Ambitions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Role-based access: read-only vs. admin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Configurable alert thresholds with email/Teams notifications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Extended heatmap: drill-down to individual fault codes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Promote ML fault prediction to production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Multi-site support (multiple CIMPLICITY instances)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REST API so other tools can query fault trends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349240"/>
            <a:ext cx="11548872" cy="11887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5349240"/>
            <a:ext cx="11548872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Thank you for your attention — questions welcome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A99"/>
                </a:solidFill>
              </a:rPr>
              <a:t>Benoit Goethals · Tom Van de Vyver  |  ArcelorMittal  · 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